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over" id="{f8f68c46-21cc-2bc1-72f7-928abe8e1618}">
          <p14:sldIdLst>
            <p14:sldId id="256"/>
          </p14:sldIdLst>
        </p14:section>
        <p14:section name="The paper" id="{d3e45d2c-f7b6-0526-023c-de992e52586e}">
          <p14:sldIdLst>
            <p14:sldId id="257"/>
            <p14:sldId id="258"/>
            <p14:sldId id="259"/>
          </p14:sldIdLst>
        </p14:section>
        <p14:section name="Extension 1" id="{a9e5866d-b1b1-0379-109b-2b5a4b554278}">
          <p14:sldIdLst>
            <p14:sldId id="260"/>
          </p14:sldIdLst>
        </p14:section>
        <p14:section name="Extension 2" id="{bd6885d3-6378-0f18-d19c-a92bc95b0dfe}">
          <p14:sldIdLst>
            <p14:sldId id="261"/>
            <p14:sldId id="262"/>
          </p14:sldIdLst>
        </p14:section>
        <p14:section name="References" id="{b08f4845-041c-96a3-6edd-b75766670622}">
          <p14:sldIdLst>
            <p14:sldId id="26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Paper</c:v>
                </c:pt>
              </c:strCache>
            </c:strRef>
          </c:tx>
          <c:spPr>
            <a:solidFill>
              <a:srgbClr val="9AA3B2"/>
            </a:solidFill>
            <a:effectLst/>
          </c:spPr>
          <c:invertIfNegative val="0"/>
          <c:dLbls>
            <c:numFmt formatCode="0.000" sourceLinked="0"/>
            <c:txPr>
              <a:bodyPr/>
              <a:lstStyle/>
              <a:p>
                <a:pPr>
                  <a:defRPr b="1" i="0" strike="noStrike" sz="1300" u="none">
                    <a:solidFill>
                      <a:srgbClr val="14213D"/>
                    </a:solidFill>
                    <a:latin typeface="+mn-lt"/>
                  </a:defRPr>
                </a:pPr>
              </a:p>
            </c:txPr>
            <c:showLegendKey val="0"/>
            <c:showVal val="1"/>
            <c:showCatName val="0"/>
            <c:showSerName val="0"/>
            <c:showPercent val="0"/>
            <c:showBubbleSize val="0"/>
            <c:showLeaderLines val="0"/>
          </c:dLbls>
          <c:cat>
            <c:multiLvlStrRef>
              <c:f>Sheet1!$A$2:$A$3</c:f>
              <c:multiLvlStrCache>
                <c:ptCount val="2"/>
                <c:lvl>
                  <c:pt idx="0">
                    <c:v>Answer accuracy</c:v>
                  </c:pt>
                  <c:pt idx="1">
                    <c:v>Refusal accuracy (right reason)</c:v>
                  </c:pt>
                </c:lvl>
              </c:multiLvlStrCache>
            </c:multiLvlStrRef>
          </c:cat>
          <c:val>
            <c:numRef>
              <c:f>Sheet1!$B$2:$B$3</c:f>
              <c:numCache>
                <c:formatCode>General</c:formatCode>
                <c:ptCount val="2"/>
                <c:pt idx="0">
                  <c:v>0.561</c:v>
                </c:pt>
                <c:pt idx="1">
                  <c:v>0.05</c:v>
                </c:pt>
              </c:numCache>
            </c:numRef>
          </c:val>
        </c:ser>
        <c:ser>
          <c:idx val="1"/>
          <c:order val="1"/>
          <c:tx>
            <c:strRef>
              <c:f>Sheet1!$C$1</c:f>
              <c:strCache>
                <c:ptCount val="1"/>
                <c:pt idx="0">
                  <c:v>Ours</c:v>
                </c:pt>
              </c:strCache>
            </c:strRef>
          </c:tx>
          <c:spPr>
            <a:solidFill>
              <a:srgbClr val="2F6FDE"/>
            </a:solidFill>
            <a:effectLst/>
          </c:spPr>
          <c:invertIfNegative val="0"/>
          <c:dLbls>
            <c:numFmt formatCode="0.000" sourceLinked="0"/>
            <c:txPr>
              <a:bodyPr/>
              <a:lstStyle/>
              <a:p>
                <a:pPr>
                  <a:defRPr b="1" i="0" strike="noStrike" sz="1300" u="none">
                    <a:solidFill>
                      <a:srgbClr val="14213D"/>
                    </a:solidFill>
                    <a:latin typeface="+mn-lt"/>
                  </a:defRPr>
                </a:pPr>
              </a:p>
            </c:txPr>
            <c:showLegendKey val="0"/>
            <c:showVal val="1"/>
            <c:showCatName val="0"/>
            <c:showSerName val="0"/>
            <c:showPercent val="0"/>
            <c:showBubbleSize val="0"/>
            <c:showLeaderLines val="0"/>
          </c:dLbls>
          <c:cat>
            <c:multiLvlStrRef>
              <c:f>Sheet1!$A$2:$A$3</c:f>
              <c:multiLvlStrCache>
                <c:ptCount val="2"/>
                <c:lvl>
                  <c:pt idx="0">
                    <c:v>Answer accuracy</c:v>
                  </c:pt>
                  <c:pt idx="1">
                    <c:v>Refusal accuracy (right reason)</c:v>
                  </c:pt>
                </c:lvl>
              </c:multiLvlStrCache>
            </c:multiLvlStrRef>
          </c:cat>
          <c:val>
            <c:numRef>
              <c:f>Sheet1!$C$2:$C$3</c:f>
              <c:numCache>
                <c:formatCode>General</c:formatCode>
                <c:ptCount val="2"/>
                <c:pt idx="0">
                  <c:v>0.69</c:v>
                </c:pt>
                <c:pt idx="1">
                  <c:v>0.114</c:v>
                </c:pt>
              </c:numCache>
            </c:numRef>
          </c:val>
        </c:ser>
        <c:dLbls>
          <c:numFmt formatCode="0.000" sourceLinked="0"/>
          <c:txPr>
            <a:bodyPr/>
            <a:lstStyle/>
            <a:p>
              <a:pPr>
                <a:defRPr b="1" i="0" strike="noStrike" sz="1300" u="none">
                  <a:solidFill>
                    <a:srgbClr val="14213D"/>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14213D"/>
            </a:solidFill>
            <a:prstDash val="solid"/>
            <a:round/>
          </a:ln>
        </c:spPr>
        <c:txPr>
          <a:bodyPr/>
          <a:lstStyle/>
          <a:p>
            <a:pPr>
              <a:defRPr sz="1300" b="1" i="0" u="none" strike="noStrike">
                <a:solidFill>
                  <a:srgbClr val="14213D"/>
                </a:solidFill>
                <a:latin typeface="+mn-lt"/>
              </a:defRPr>
            </a:pPr>
            <a:endParaRPr lang="en-US"/>
          </a:p>
        </c:txPr>
        <c:crossAx val="2094734552"/>
        <c:crosses val="autoZero"/>
        <c:auto val="1"/>
        <c:lblAlgn val="ctr"/>
        <c:noMultiLvlLbl val="1"/>
      </c:catAx>
      <c:valAx>
        <c:axId val="2094734552"/>
        <c:scaling>
          <c:orientation val="minMax"/>
          <c:max val="0.8"/>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t"/>
      <c:overlay val="0"/>
      <c:txPr>
        <a:bodyPr/>
        <a:lstStyle/>
        <a:p>
          <a:pPr>
            <a:defRPr sz="1200">
              <a:solidFill>
                <a:srgbClr val="14213D"/>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0.5 minutes. Introduce the three of you (any of us can be asked about any part) and give the whole story in three sentences, so the room knows where it is going.
"We took a research paper about when language models should refuse to answer. We reproduced it with a small model on a Google Colab T4. We tested two ideas to improve it: the first failed clearly; the second finds a real signal inside the model, but it does not clearly beat the baseline, and I will say exactly what the numbers do and do not prove."
Three parts, shown at the top right of every slide: the paper, extension 1, extension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1.5 minutes. Define the two terms out loud: grounded, and selective refusal. The example is Figure 1 of the paper: one sentence added to the passage turns an answerable question into one the model must refuse.
The six reasons, with the benchmark's own examples: ambiguity ("the bat's weight" when the text has a baseball bat and an animal); contradiction ("revenue was $10M" and "revenue was $12M"); missing information ("who is the CEO?" when the text only describes products); false premise ("why did the Mars division fail?" when there is no Mars division); granularity mismatch ("average salary" when only two of fifty salaries are given); epistemic mismatch ("is this a good investment?" when only a stock price is given).
Likely question: "Why not always answer?" A confident answer from a flawed passage can be wrong and harmful.
Second problem of the paper: static benchmarks get memorized and saturate; that is why it generates fresh test cases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2 minutes. Click through the three steps.
Step 1: the benchmark is generated, not collected. 176 rewrite rules ("levers"), about 10 for each of the 18 combinations of six failure types and three strengths. Four strong LLMs (Claude-4-Sonnet, DeepSeek-R1, GPT-4o, Nova-Pro) each rewrite a good example to break it in a known way, every model checks every rewrite against seven criteria, and a broken example is kept only if all of them approve. Why all of them: models rate their own outputs too kindly (91.0% against 82.1% for others'). An expert checked 180 random examples: 93.1% were valid. So every example has a known correct reply.
Step 2: LOW strength must be answered, MEDIUM and HIGH must be refused: 536 answerable, 1,064 to refuse. All 1,600 are variants of only 100 questions, so they are not independent: this is why our later tests keep variants of one question together.
Step 3: three roles. The builders wrote the test (already done, we did not rerun it). The target model is the student. The judge is the grader: it must be a different model from the student. A refusal is correct only if its code equals the expected code; an answer is correct if the judge scores it 4 or 5.
Likely question: "Who judges the judge?" In the paper an expert checked the benchmark examples, not the judge. For our Gemini judge the 30-reply hand check is still to do; it is listed as a limit.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2 minutes. Left, the paper's numbers (all its own): 73.0% and 47.4% are in the introduction and Figure 5; "no model above 80% on both" is the Figure 5 caption; Qwen below 17% at every size is the scaling section. The Qwen-7B refusal accuracy of about 5% is read from a small plot, so say "about". The paper measures this weakness; the only remedy it points to is alignment training. That is where our work starts.
Click once: our reproduction. Same 1,600 examples, the paper's prompt word for word, temperature 1.0. Changed: one free Colab T4 instead of four A100 GPUs, 4-bit weights (a 7B model is about 15 GB at 16-bit, about 5 GB in 4-bit), Gemini instead of Claude as judge, and the judge is used only for the 66% of replies that are not one clean refusal code. A reply with no code is NOT assumed to be an answer: a small model often refuses in plain words.
Read the headline: refusal accuracy is low in both (0.114 against about 0.05). Our answer accuracy is higher (0.690 against 0.561); I do not claim to beat the paper, because the judge, the 4-bit model and the software differ.
Terms used from now on: missed refusal (had to refuse, answered), false refusal (answerable, refused). Balanced accuracy = 1 minus their average: 1 - (0.165 + 0.456) / 2 = 0.690, where 0.5 is a coin flip. It happens to equal our answer accuracy; they are different numbers.
Likely question: "Is the baseline finished?" No: 770 graded (a seeded random sample, checked to be representative), 40 examples (2.5%) ran out of GPU memory and are excluded.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2 minutes. Give the failure its full time: a clean negative result is worth marks for honesty and result quality.
The limitation targeted: the paper shows small models rarely name the right reason, and offers no fix without training. The idea: make the diagnosis an explicit first step.
The control changes only one thing, a final line, so we can tell whether tidier output alone explains a difference. The control is also slightly worse than the baseline, but nothing like this.
Numbers: 800 stratified examples (268 answerable, 532 to refuse) covering all 100 source questions; the bars use the 776 examples also present in the baseline and count clean refusal codes only, so the baseline and control figures are lower bounds. Differences are significant (paired bootstrap over source questions: diagnose first minus baseline -41.4 points, interval -46.1 to -36.7). By type, CLEAR on: ambiguity 68 of 69, contradiction 87 of 94, missing information 87 of 92, false premise 89 of 93, granularity 83 of 92, epistemic 90 of 92, answerable 258 of 268. The only valid non-clear state it ever wrote was MISSING_INFORMATION, 7 times.
Likely question: "Why did it fail?" I do not know. "Anchoring on clear", the first option listed, would be a guess, not a finding; I tested nothing about the mechanism. Reordering the options is the first follow-up test.
Click for the turning point, and say it slowly: "My first idea asked the model what was wrong with the evidence. It said everything was clear, 95% of the time. So the second idea does not ask. It reads the signal the model already computes, before it writes a single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1.75 minutes. A probe is just a simple classifier (logistic regression) that looks at the model's internal numbers; the hidden state is the numbers the model computes on the way to its answer. Higher score always means "refuse". Nothing is generated: each score comes from one forward pass under its own prompt (S1 uses the paper's prompt, S2 a second yes/no prompt, S3 reads the hidden states of either pass).
S1 detail if asked: a refusal code is several tokens and Qwen sometimes wraps it (two asterisks, a backtick, "ANSWER:"), so we add up the probability of every wrapped opening.
Say clearly: S1 and S2 at their default thresholds use no labels; S3 is trained with the benchmark's labels. That is why the probe is a diagnostic of what the hidden state contains, not an equal-training comparison with the baseline.
Why the five groups: the 1,600 examples are variants of 100 questions. A random split would put variants of the same question in training and test, and the result would look better than it is. A unit test corrupts the labels of one group and checks that the threshold for that group does not change. Honest limit: the intervals resample the held-out predictions; the fitting is not repeated inside each resample.
Success rule, fixed before the run: signal if the lower end of S1's AUROC interval is above 0.5; gain if the tuned threshold beats the default with its interval above zero.
Scoring takes about 0.3 seconds per example on a T4. Likely question: "Where is your novelty?" Reading these signals for grounded refusal on this benchmark with a small open model, tested against the paper's baseline, with the version that did not work reported honestly. Related work (Yin et al., R-Tuning, Self-RAG) changes the model by training; ours keeps the weights fixed. We searched for follow-ups of RefusalBench: one citing paper (HopRefusalBench), a new benchmark with no method.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2.25 minutes. This is the "result quality" part of the rubric: read the verdict out loud, do not oversell.
Left (question A): all three readouts separate the cases far better than chance; their intervals start at 0.70 or higher. So the information is there. The pre-registered verdict is "signal but no gain": tuning S1's threshold does not beat its default (+0.015, interval -0.008 to +0.036).
Right (question B): would using it make better decisions than the judged baseline (balanced accuracy 0.690) on the same 770 examples? S1's whole interval is below zero (slightly worse). S2 is unclear. The probe S3 has the best point estimate, +0.028, but its interval runs from -0.014 to +0.065, so we do not claim an improvement. With five comparisons and no correction, even S1's "worse" is not robust.
Why a good AUROC does not give a better decision: AUROC measures ranking over every possible threshold; a deployed rule needs one operating point, and moving the threshold only trades one error for the other. In the trade-off picture the baseline sits close to the S1 and S2 curves and just above the probe's.
Per type (same 770, missed / false refusal): contradiction baseline .71 / .17, S2 .23 / .50, probe .19 / .29; ambiguity baseline .74 / .09, probe .45 / .23; false premise baseline .19 / .33, probe .25 / .23. So the probe finds many more contradictions and ambiguities, but refuses more answerable questions.
Hostile question: "Your baseline depends on an unvalidated Gemini judge for most replies, while your rules are scored against labels." Answer: treat the comparison as provisional; I compare on the same 770 examples with intervals that resample whole questions, I claim no winner, and grading the rest plus the 30-reply judge check are the two next steps.
Click: the central finding in one line, decodable is not deployable. Click again: what we can say, cannot say, and what a full run needs. Then stop talking and invite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Leave this up during questions. These are the 21 references of the report, report/REPORT.md.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chemeClr val="bg1"/>
        </a:solidFill>
      </p:bgPr>
    </p:bg>
    <p:spTree>
      <p:nvGrpSpPr>
        <p:cNvPr id="1" name=""/>
        <p:cNvGrpSpPr/>
        <p:nvPr/>
      </p:nvGrpSpPr>
      <p:grpSpPr>
        <a:xfrm>
          <a:off x="0" y="0"/>
          <a:ext cx="0" cy="0"/>
          <a:chOff x="0" y="0"/>
          <a:chExt cx="0" cy="0"/>
        </a:xfrm>
      </p:grpSpPr>
      <p:sp>
        <p:nvSpPr>
          <p:cNvPr id="2" name="Shape 0"/>
          <p:cNvSpPr/>
          <p:nvPr/>
        </p:nvSpPr>
        <p:spPr>
          <a:xfrm>
            <a:off x="0" y="0"/>
            <a:ext cx="76200" cy="6858000"/>
          </a:xfrm>
          <a:prstGeom prst="rect">
            <a:avLst/>
          </a:prstGeom>
          <a:solidFill>
            <a:schemeClr val="tx1"/>
          </a:solidFill>
          <a:ln w="12700">
            <a:solidFill>
              <a:schemeClr val="tx1"/>
            </a:solidFill>
            <a:prstDash val="solid"/>
          </a:ln>
        </p:spPr>
      </p:sp>
      <p:sp>
        <p:nvSpPr>
          <p:cNvPr id="3" name="Text 1"/>
          <p:cNvSpPr/>
          <p:nvPr>
            <p:ph idx="101" type="title" hasCustomPrompt="1"/>
          </p:nvPr>
        </p:nvSpPr>
        <p:spPr>
          <a:xfrm>
            <a:off x="685800" y="2114550"/>
            <a:ext cx="10820400" cy="990600"/>
          </a:xfrm>
          <a:prstGeom prst="rect">
            <a:avLst/>
          </a:prstGeom>
          <a:noFill/>
          <a:ln/>
        </p:spPr>
        <p:txBody>
          <a:bodyPr wrap="square" rtlCol="0"/>
          <a:lstStyle>
            <a:lvl1pPr algn="l" indent="0" marL="0">
              <a:buNone/>
              <a:defRPr lang="en-US" sz="5700" b="1" dirty="0">
                <a:solidFill>
                  <a:schemeClr val="tx1"/>
                </a:solidFill>
                <a:latin typeface="Cambria" pitchFamily="34" charset="0"/>
                <a:ea typeface="Cambria" pitchFamily="34" charset="-122"/>
                <a:cs typeface="Cambria" pitchFamily="34" charset="-120"/>
              </a:defRPr>
            </a:lvl1pPr>
          </a:lstStyle>
          <a:p>
            <a:pPr algn="l" indent="0" marL="0">
              <a:buNone/>
            </a:pPr>
            <a:endParaRPr lang="en-US" sz="57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Shape 0"/>
          <p:cNvSpPr/>
          <p:nvPr/>
        </p:nvSpPr>
        <p:spPr>
          <a:xfrm>
            <a:off x="0" y="0"/>
            <a:ext cx="76200" cy="6858000"/>
          </a:xfrm>
          <a:prstGeom prst="rect">
            <a:avLst/>
          </a:prstGeom>
          <a:solidFill>
            <a:schemeClr val="tx1"/>
          </a:solidFill>
          <a:ln w="12700">
            <a:solidFill>
              <a:schemeClr val="tx1"/>
            </a:solidFill>
            <a:prstDash val="solid"/>
          </a:ln>
        </p:spPr>
      </p:sp>
      <p:sp>
        <p:nvSpPr>
          <p:cNvPr id="3" name="Text 1"/>
          <p:cNvSpPr/>
          <p:nvPr>
            <p:ph idx="101" type="body" hasCustomPrompt="1"/>
          </p:nvPr>
        </p:nvSpPr>
        <p:spPr>
          <a:xfrm>
            <a:off x="685800" y="390525"/>
            <a:ext cx="8572500" cy="190500"/>
          </a:xfrm>
          <a:prstGeom prst="rect">
            <a:avLst/>
          </a:prstGeom>
          <a:noFill/>
          <a:ln/>
        </p:spPr>
        <p:txBody>
          <a:bodyPr wrap="square" rtlCol="0"/>
          <a:lstStyle>
            <a:lvl1pPr indent="0" marL="0">
              <a:buNone/>
              <a:defRPr lang="en-US" sz="1125" b="1" spc="140" kern="0" dirty="0">
                <a:solidFill>
                  <a:schemeClr val="accent1"/>
                </a:solidFill>
              </a:defRPr>
            </a:lvl1pPr>
          </a:lstStyle>
          <a:p>
            <a:pPr indent="0" marL="0">
              <a:buNone/>
            </a:pPr>
            <a:endParaRPr lang="en-US" sz="1125" dirty="0"/>
          </a:p>
        </p:txBody>
      </p:sp>
      <p:sp>
        <p:nvSpPr>
          <p:cNvPr id="4" name="Text 1"/>
          <p:cNvSpPr/>
          <p:nvPr>
            <p:ph idx="102" type="title" hasCustomPrompt="1"/>
          </p:nvPr>
        </p:nvSpPr>
        <p:spPr>
          <a:xfrm>
            <a:off x="685800" y="647700"/>
            <a:ext cx="10820400" cy="838200"/>
          </a:xfrm>
          <a:prstGeom prst="rect">
            <a:avLst/>
          </a:prstGeom>
          <a:noFill/>
          <a:ln/>
        </p:spPr>
        <p:txBody>
          <a:bodyPr wrap="square" rtlCol="0"/>
          <a:lstStyle>
            <a:lvl1pPr algn="l" indent="0" marL="0">
              <a:buNone/>
              <a:defRPr lang="en-US" sz="2700" b="1" dirty="0">
                <a:solidFill>
                  <a:schemeClr val="tx1"/>
                </a:solidFill>
                <a:latin typeface="Cambria" pitchFamily="34" charset="0"/>
                <a:ea typeface="Cambria" pitchFamily="34" charset="-122"/>
                <a:cs typeface="Cambria" pitchFamily="34" charset="-120"/>
              </a:defRPr>
            </a:lvl1pPr>
          </a:lstStyle>
          <a:p>
            <a:pPr algn="l" indent="0" marL="0">
              <a:buNone/>
            </a:pPr>
            <a:endParaRPr lang="en-US" sz="27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685800" y="390525"/>
            <a:ext cx="10820400" cy="190500"/>
          </a:xfrm>
          <a:prstGeom prst="rect">
            <a:avLst/>
          </a:prstGeom>
          <a:noFill/>
          <a:ln/>
        </p:spPr>
        <p:txBody>
          <a:bodyPr wrap="square" lIns="0" tIns="0" rIns="0" bIns="0" rtlCol="0" anchor="t"/>
          <a:lstStyle/>
          <a:p>
            <a:pPr indent="0" marL="0">
              <a:buNone/>
            </a:pPr>
            <a:r>
              <a:rPr lang="en-US" sz="1125" b="1" spc="140" kern="0" dirty="0">
                <a:solidFill>
                  <a:schemeClr val="accent1"/>
                </a:solidFill>
              </a:rPr>
              <a:t>MSC PROJECT DEFENSE · DATA SCIENCE FOR CONVERSATIONAL AI · TOPIC: GROUNDING</a:t>
            </a:r>
            <a:endParaRPr lang="en-US" sz="1125" dirty="0"/>
          </a:p>
        </p:txBody>
      </p:sp>
      <p:sp>
        <p:nvSpPr>
          <p:cNvPr id="3" name="Text 1"/>
          <p:cNvSpPr/>
          <p:nvPr>
            <p:ph idx="101" type="title" hasCustomPrompt="1"/>
          </p:nvPr>
        </p:nvSpPr>
        <p:spPr>
          <a:xfrm>
            <a:off x="685800" y="2114550"/>
            <a:ext cx="10820400" cy="990600"/>
          </a:xfrm>
          <a:prstGeom prst="rect">
            <a:avLst/>
          </a:prstGeom>
          <a:noFill/>
          <a:ln/>
        </p:spPr>
        <p:txBody>
          <a:bodyPr wrap="square" lIns="0" tIns="0" rIns="0" bIns="0" rtlCol="0" anchor="t"/>
          <a:lstStyle/>
          <a:p>
            <a:pPr algn="l" indent="0" marL="0">
              <a:buNone/>
            </a:pPr>
            <a:r>
              <a:rPr lang="en-US" sz="5700" b="1" dirty="0">
                <a:solidFill>
                  <a:schemeClr val="tx1"/>
                </a:solidFill>
                <a:latin typeface="Cambria" pitchFamily="34" charset="0"/>
                <a:ea typeface="Cambria" pitchFamily="34" charset="-122"/>
                <a:cs typeface="Cambria" pitchFamily="34" charset="-120"/>
              </a:rPr>
              <a:t>Reading, Not Asking</a:t>
            </a:r>
            <a:endParaRPr lang="en-US" sz="5700" dirty="0"/>
          </a:p>
        </p:txBody>
      </p:sp>
      <p:sp>
        <p:nvSpPr>
          <p:cNvPr id="4" name="Text 2"/>
          <p:cNvSpPr txBox="1"/>
          <p:nvPr/>
        </p:nvSpPr>
        <p:spPr>
          <a:xfrm>
            <a:off x="685800" y="3238500"/>
            <a:ext cx="6667500" cy="1143000"/>
          </a:xfrm>
          <a:prstGeom prst="rect">
            <a:avLst/>
          </a:prstGeom>
          <a:noFill/>
          <a:ln/>
        </p:spPr>
        <p:txBody>
          <a:bodyPr wrap="square" lIns="0" tIns="0" rIns="0" bIns="0" rtlCol="0" anchor="t"/>
          <a:lstStyle/>
          <a:p>
            <a:pPr indent="0" marL="0">
              <a:lnSpc>
                <a:spcPct val="110000"/>
              </a:lnSpc>
              <a:buNone/>
            </a:pPr>
            <a:r>
              <a:rPr lang="en-US" sz="2100" dirty="0">
                <a:solidFill>
                  <a:schemeClr val="tx2"/>
                </a:solidFill>
                <a:latin typeface="+mj-lt" pitchFamily="34" charset="0"/>
                <a:ea typeface="+mj-lt" pitchFamily="34" charset="-122"/>
                <a:cs typeface="+mj-lt" pitchFamily="34" charset="-120"/>
              </a:rPr>
              <a:t>Probing a small language model's internal signal for selective refusal in grounded question answering.</a:t>
            </a:r>
            <a:endParaRPr lang="en-US" sz="2100" dirty="0"/>
          </a:p>
        </p:txBody>
      </p:sp>
      <p:sp>
        <p:nvSpPr>
          <p:cNvPr id="5" name="Shape 3"/>
          <p:cNvSpPr/>
          <p:nvPr/>
        </p:nvSpPr>
        <p:spPr>
          <a:xfrm>
            <a:off x="685800" y="5905500"/>
            <a:ext cx="10820400" cy="0"/>
          </a:xfrm>
          <a:prstGeom prst="line">
            <a:avLst/>
          </a:prstGeom>
          <a:noFill/>
          <a:ln w="13970">
            <a:solidFill>
              <a:srgbClr val="DFE3EA"/>
            </a:solidFill>
            <a:prstDash val="solid"/>
          </a:ln>
        </p:spPr>
      </p:sp>
      <p:sp>
        <p:nvSpPr>
          <p:cNvPr id="6" name="Text 4"/>
          <p:cNvSpPr txBox="1"/>
          <p:nvPr/>
        </p:nvSpPr>
        <p:spPr>
          <a:xfrm>
            <a:off x="685800" y="6019800"/>
            <a:ext cx="6667500" cy="476250"/>
          </a:xfrm>
          <a:prstGeom prst="rect">
            <a:avLst/>
          </a:prstGeom>
          <a:noFill/>
          <a:ln/>
        </p:spPr>
        <p:txBody>
          <a:bodyPr wrap="square" lIns="0" tIns="0" rIns="0" bIns="0" rtlCol="0" anchor="t"/>
          <a:lstStyle/>
          <a:p>
            <a:pPr indent="0" marL="0">
              <a:buNone/>
            </a:pPr>
            <a:r>
              <a:rPr lang="en-US" sz="1425" b="1" dirty="0">
                <a:solidFill>
                  <a:schemeClr val="tx1"/>
                </a:solidFill>
              </a:rPr>
              <a:t>Team: </a:t>
            </a:r>
            <a:r>
              <a:rPr lang="en-US" sz="1425" dirty="0">
                <a:solidFill>
                  <a:schemeClr val="tx2"/>
                </a:solidFill>
              </a:rPr>
              <a:t>Mohammad Jomaa · Abbass Zahreddine · Ahmad Assaf</a:t>
            </a:r>
            <a:endParaRPr lang="en-US" sz="1425" dirty="0"/>
          </a:p>
          <a:p>
            <a:pPr indent="0" marL="0">
              <a:buNone/>
            </a:pPr>
            <a:r>
              <a:rPr lang="en-US" sz="1425" dirty="0">
                <a:solidFill>
                  <a:schemeClr val="tx2"/>
                </a:solidFill>
              </a:rPr>
              <a:t>M2 Data Science, Lebanese University</a:t>
            </a:r>
            <a:endParaRPr lang="en-US" sz="1425" dirty="0"/>
          </a:p>
        </p:txBody>
      </p:sp>
      <p:sp>
        <p:nvSpPr>
          <p:cNvPr id="7" name="Text 5"/>
          <p:cNvSpPr txBox="1"/>
          <p:nvPr/>
        </p:nvSpPr>
        <p:spPr>
          <a:xfrm>
            <a:off x="6667500" y="6238875"/>
            <a:ext cx="4838700" cy="247650"/>
          </a:xfrm>
          <a:prstGeom prst="rect">
            <a:avLst/>
          </a:prstGeom>
          <a:noFill/>
          <a:ln/>
        </p:spPr>
        <p:txBody>
          <a:bodyPr wrap="square" lIns="0" tIns="0" rIns="0" bIns="0" rtlCol="0" anchor="t"/>
          <a:lstStyle/>
          <a:p>
            <a:pPr algn="r" indent="0" marL="0">
              <a:buNone/>
            </a:pPr>
            <a:r>
              <a:rPr lang="en-US" sz="1425" b="1" dirty="0">
                <a:solidFill>
                  <a:schemeClr val="tx1"/>
                </a:solidFill>
              </a:rPr>
              <a:t>Paper: </a:t>
            </a:r>
            <a:r>
              <a:rPr lang="en-US" sz="1425" dirty="0">
                <a:solidFill>
                  <a:schemeClr val="tx2"/>
                </a:solidFill>
              </a:rPr>
              <a:t>RefusalBench, Muhamed et al., EACL 2026</a:t>
            </a:r>
            <a:endParaRPr lang="en-US" sz="1425"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body" hasCustomPrompt="1"/>
          </p:nvPr>
        </p:nvSpPr>
        <p:spPr>
          <a:xfrm>
            <a:off x="685800" y="390525"/>
            <a:ext cx="8572500" cy="190500"/>
          </a:xfrm>
          <a:prstGeom prst="rect">
            <a:avLst/>
          </a:prstGeom>
          <a:noFill/>
          <a:ln/>
        </p:spPr>
        <p:txBody>
          <a:bodyPr wrap="square" lIns="0" tIns="0" rIns="0" bIns="0" rtlCol="0" anchor="t"/>
          <a:lstStyle/>
          <a:p>
            <a:pPr indent="0" marL="0">
              <a:buNone/>
            </a:pPr>
            <a:r>
              <a:rPr lang="en-US" sz="1125" b="1" spc="140" kern="0" dirty="0">
                <a:solidFill>
                  <a:schemeClr val="accent1"/>
                </a:solidFill>
              </a:rPr>
              <a:t>THE PAPER · PROBLEM</a:t>
            </a:r>
            <a:endParaRPr lang="en-US" sz="1125" dirty="0"/>
          </a:p>
        </p:txBody>
      </p:sp>
      <p:sp>
        <p:nvSpPr>
          <p:cNvPr id="3" name="Text 1"/>
          <p:cNvSpPr/>
          <p:nvPr>
            <p:ph idx="102" type="title" hasCustomPrompt="1"/>
          </p:nvPr>
        </p:nvSpPr>
        <p:spPr>
          <a:xfrm>
            <a:off x="685800" y="647700"/>
            <a:ext cx="10820400" cy="838200"/>
          </a:xfrm>
          <a:prstGeom prst="rect">
            <a:avLst/>
          </a:prstGeom>
          <a:noFill/>
          <a:ln/>
        </p:spPr>
        <p:txBody>
          <a:bodyPr wrap="square" lIns="0" tIns="0" rIns="0" bIns="0" rtlCol="0" anchor="t"/>
          <a:lstStyle/>
          <a:p>
            <a:pPr algn="l" indent="0" marL="0">
              <a:buNone/>
            </a:pPr>
            <a:r>
              <a:rPr lang="en-US" sz="2700" b="1" dirty="0">
                <a:solidFill>
                  <a:schemeClr val="tx1"/>
                </a:solidFill>
                <a:latin typeface="Cambria" pitchFamily="34" charset="0"/>
                <a:ea typeface="Cambria" pitchFamily="34" charset="-122"/>
                <a:cs typeface="Cambria" pitchFamily="34" charset="-120"/>
              </a:rPr>
              <a:t>A grounded model must refuse when its evidence is flawed, and say why</a:t>
            </a:r>
            <a:endParaRPr lang="en-US" sz="2700" dirty="0"/>
          </a:p>
        </p:txBody>
      </p:sp>
      <p:sp>
        <p:nvSpPr>
          <p:cNvPr id="4" name="part indicator"/>
          <p:cNvSpPr txBox="1"/>
          <p:nvPr/>
        </p:nvSpPr>
        <p:spPr>
          <a:xfrm>
            <a:off x="9382125" y="190500"/>
            <a:ext cx="2428875" cy="190500"/>
          </a:xfrm>
          <a:prstGeom prst="rect">
            <a:avLst/>
          </a:prstGeom>
          <a:noFill/>
          <a:ln/>
        </p:spPr>
        <p:txBody>
          <a:bodyPr wrap="square" lIns="0" tIns="0" rIns="0" bIns="0" rtlCol="0" anchor="t"/>
          <a:lstStyle/>
          <a:p>
            <a:pPr algn="r" indent="0" marL="0">
              <a:buNone/>
            </a:pPr>
            <a:r>
              <a:rPr lang="en-US" sz="975" b="1" u="sng" dirty="0">
                <a:solidFill>
                  <a:schemeClr val="tx1"/>
                </a:solidFill>
                <a:uFill>
                  <a:solidFill>
                    <a:srgbClr val="B5541A"/>
                  </a:solidFill>
                </a:uFill>
              </a:rPr>
              <a:t>The paper</a:t>
            </a:r>
            <a:r>
              <a:rPr lang="en-US" sz="975" dirty="0">
                <a:solidFill>
                  <a:schemeClr val="tx2"/>
                </a:solidFill>
              </a:rPr>
              <a:t>     </a:t>
            </a:r>
            <a:r>
              <a:rPr lang="en-US" sz="975" dirty="0">
                <a:solidFill>
                  <a:schemeClr val="tx2"/>
                </a:solidFill>
              </a:rPr>
              <a:t>Extension 1</a:t>
            </a:r>
            <a:r>
              <a:rPr lang="en-US" sz="975" dirty="0">
                <a:solidFill>
                  <a:schemeClr val="tx2"/>
                </a:solidFill>
              </a:rPr>
              <a:t>     </a:t>
            </a:r>
            <a:r>
              <a:rPr lang="en-US" sz="975" dirty="0">
                <a:solidFill>
                  <a:schemeClr val="tx2"/>
                </a:solidFill>
              </a:rPr>
              <a:t>Extension 2</a:t>
            </a:r>
            <a:endParaRPr lang="en-US" sz="975" dirty="0"/>
          </a:p>
        </p:txBody>
      </p:sp>
      <p:sp>
        <p:nvSpPr>
          <p:cNvPr id="5" name="Text 3"/>
          <p:cNvSpPr txBox="1"/>
          <p:nvPr/>
        </p:nvSpPr>
        <p:spPr>
          <a:xfrm>
            <a:off x="685800" y="1619250"/>
            <a:ext cx="10820400" cy="533400"/>
          </a:xfrm>
          <a:prstGeom prst="rect">
            <a:avLst/>
          </a:prstGeom>
          <a:noFill/>
          <a:ln/>
        </p:spPr>
        <p:txBody>
          <a:bodyPr wrap="square" lIns="0" tIns="0" rIns="0" bIns="0" rtlCol="0" anchor="t"/>
          <a:lstStyle/>
          <a:p>
            <a:pPr indent="0" marL="0">
              <a:buNone/>
            </a:pPr>
            <a:r>
              <a:rPr lang="en-US" sz="1425" dirty="0">
                <a:solidFill>
                  <a:schemeClr val="tx1"/>
                </a:solidFill>
              </a:rPr>
              <a:t>A </a:t>
            </a:r>
            <a:r>
              <a:rPr lang="en-US" sz="1425" b="1" dirty="0">
                <a:solidFill>
                  <a:schemeClr val="tx1"/>
                </a:solidFill>
              </a:rPr>
              <a:t>grounded</a:t>
            </a:r>
            <a:r>
              <a:rPr lang="en-US" sz="1425" dirty="0">
                <a:solidFill>
                  <a:schemeClr val="tx1"/>
                </a:solidFill>
              </a:rPr>
              <a:t> model answers only from the passage it is given. </a:t>
            </a:r>
            <a:r>
              <a:rPr lang="en-US" sz="1425" b="1" dirty="0">
                <a:solidFill>
                  <a:schemeClr val="tx1"/>
                </a:solidFill>
              </a:rPr>
              <a:t>Selective refusal</a:t>
            </a:r>
            <a:r>
              <a:rPr lang="en-US" sz="1425" dirty="0">
                <a:solidFill>
                  <a:schemeClr val="tx1"/>
                </a:solidFill>
              </a:rPr>
              <a:t>: answer when the passage supports it, refuse and name the reason when it does not.</a:t>
            </a:r>
            <a:endParaRPr lang="en-US" sz="1425" dirty="0"/>
          </a:p>
        </p:txBody>
      </p:sp>
      <p:sp>
        <p:nvSpPr>
          <p:cNvPr id="6" name="Shape 4"/>
          <p:cNvSpPr/>
          <p:nvPr/>
        </p:nvSpPr>
        <p:spPr>
          <a:xfrm>
            <a:off x="685800" y="2362200"/>
            <a:ext cx="4791075" cy="2286000"/>
          </a:xfrm>
          <a:prstGeom prst="roundRect">
            <a:avLst>
              <a:gd name="adj" fmla="val 2800"/>
            </a:avLst>
          </a:prstGeom>
          <a:solidFill>
            <a:schemeClr val="bg1"/>
          </a:solidFill>
          <a:ln w="17145">
            <a:solidFill>
              <a:schemeClr val="tx1"/>
            </a:solidFill>
            <a:prstDash val="solid"/>
          </a:ln>
        </p:spPr>
      </p:sp>
      <p:sp>
        <p:nvSpPr>
          <p:cNvPr id="7" name="Text 5"/>
          <p:cNvSpPr txBox="1"/>
          <p:nvPr/>
        </p:nvSpPr>
        <p:spPr>
          <a:xfrm>
            <a:off x="885825" y="2514600"/>
            <a:ext cx="4391025" cy="171450"/>
          </a:xfrm>
          <a:prstGeom prst="rect">
            <a:avLst/>
          </a:prstGeom>
          <a:noFill/>
          <a:ln/>
        </p:spPr>
        <p:txBody>
          <a:bodyPr wrap="square" lIns="0" tIns="0" rIns="0" bIns="0" rtlCol="0" anchor="t"/>
          <a:lstStyle/>
          <a:p>
            <a:pPr indent="0" marL="0">
              <a:buNone/>
            </a:pPr>
            <a:r>
              <a:rPr lang="en-US" sz="975" b="1" spc="120" kern="0" dirty="0">
                <a:solidFill>
                  <a:schemeClr val="tx2"/>
                </a:solidFill>
              </a:rPr>
              <a:t>ORIGINAL · ANSWERABLE</a:t>
            </a:r>
            <a:endParaRPr lang="en-US" sz="975" dirty="0"/>
          </a:p>
        </p:txBody>
      </p:sp>
      <p:sp>
        <p:nvSpPr>
          <p:cNvPr id="8" name="Text 6"/>
          <p:cNvSpPr txBox="1"/>
          <p:nvPr/>
        </p:nvSpPr>
        <p:spPr>
          <a:xfrm>
            <a:off x="885825" y="2762250"/>
            <a:ext cx="4391025" cy="1809750"/>
          </a:xfrm>
          <a:prstGeom prst="rect">
            <a:avLst/>
          </a:prstGeom>
          <a:noFill/>
          <a:ln/>
        </p:spPr>
        <p:txBody>
          <a:bodyPr wrap="square" lIns="0" tIns="0" rIns="0" bIns="0" rtlCol="0" anchor="t"/>
          <a:lstStyle/>
          <a:p>
            <a:pPr indent="0" marL="0">
              <a:lnSpc>
                <a:spcPct val="108000"/>
              </a:lnSpc>
              <a:buNone/>
            </a:pPr>
            <a:r>
              <a:rPr lang="en-US" sz="1688" b="1" dirty="0">
                <a:solidFill>
                  <a:schemeClr val="tx1"/>
                </a:solidFill>
              </a:rPr>
              <a:t>Q: </a:t>
            </a:r>
            <a:r>
              <a:rPr lang="en-US" sz="1688" dirty="0">
                <a:solidFill>
                  <a:schemeClr val="tx1"/>
                </a:solidFill>
              </a:rPr>
              <a:t>When did the East India Company take control of India?</a:t>
            </a:r>
            <a:endParaRPr lang="en-US" sz="1688" dirty="0"/>
          </a:p>
          <a:p>
            <a:pPr indent="0" marL="0">
              <a:lnSpc>
                <a:spcPct val="108000"/>
              </a:lnSpc>
              <a:buNone/>
            </a:pPr>
            <a:r>
              <a:rPr lang="en-US" sz="1688" b="1" dirty="0">
                <a:solidFill>
                  <a:schemeClr val="tx1"/>
                </a:solidFill>
              </a:rPr>
              <a:t>Passage: </a:t>
            </a:r>
            <a:r>
              <a:rPr lang="en-US" sz="1688" dirty="0">
                <a:solidFill>
                  <a:schemeClr val="tx1"/>
                </a:solidFill>
              </a:rPr>
              <a:t>The East India Company gained a foothold in India in 1611.</a:t>
            </a:r>
            <a:endParaRPr lang="en-US" sz="1688" dirty="0"/>
          </a:p>
          <a:p>
            <a:pPr indent="0" marL="0">
              <a:lnSpc>
                <a:spcPct val="108000"/>
              </a:lnSpc>
              <a:buNone/>
            </a:pPr>
            <a:r>
              <a:rPr lang="en-US" sz="1688" b="1" dirty="0">
                <a:solidFill>
                  <a:schemeClr val="tx1"/>
                </a:solidFill>
              </a:rPr>
              <a:t>Reply: </a:t>
            </a:r>
            <a:r>
              <a:rPr lang="en-US" sz="1688" dirty="0">
                <a:solidFill>
                  <a:schemeClr val="tx1"/>
                </a:solidFill>
              </a:rPr>
              <a:t>1611</a:t>
            </a:r>
            <a:endParaRPr lang="en-US" sz="1688" dirty="0"/>
          </a:p>
        </p:txBody>
      </p:sp>
      <p:sp>
        <p:nvSpPr>
          <p:cNvPr id="9" name="Shape 7"/>
          <p:cNvSpPr/>
          <p:nvPr/>
        </p:nvSpPr>
        <p:spPr>
          <a:xfrm>
            <a:off x="6715125" y="2362200"/>
            <a:ext cx="4791075" cy="2286000"/>
          </a:xfrm>
          <a:prstGeom prst="roundRect">
            <a:avLst>
              <a:gd name="adj" fmla="val 2800"/>
            </a:avLst>
          </a:prstGeom>
          <a:solidFill>
            <a:srgbClr val="FBF1E9"/>
          </a:solidFill>
          <a:ln w="17145">
            <a:solidFill>
              <a:schemeClr val="accent1"/>
            </a:solidFill>
            <a:prstDash val="solid"/>
          </a:ln>
        </p:spPr>
      </p:sp>
      <p:sp>
        <p:nvSpPr>
          <p:cNvPr id="10" name="Text 8"/>
          <p:cNvSpPr txBox="1"/>
          <p:nvPr/>
        </p:nvSpPr>
        <p:spPr>
          <a:xfrm>
            <a:off x="6915150" y="2514600"/>
            <a:ext cx="4391025" cy="171450"/>
          </a:xfrm>
          <a:prstGeom prst="rect">
            <a:avLst/>
          </a:prstGeom>
          <a:noFill/>
          <a:ln/>
        </p:spPr>
        <p:txBody>
          <a:bodyPr wrap="square" lIns="0" tIns="0" rIns="0" bIns="0" rtlCol="0" anchor="t"/>
          <a:lstStyle/>
          <a:p>
            <a:pPr indent="0" marL="0">
              <a:buNone/>
            </a:pPr>
            <a:r>
              <a:rPr lang="en-US" sz="975" b="1" spc="120" kern="0" dirty="0">
                <a:solidFill>
                  <a:schemeClr val="tx2"/>
                </a:solidFill>
              </a:rPr>
              <a:t>PERTURBED · MUST REFUSE</a:t>
            </a:r>
            <a:endParaRPr lang="en-US" sz="975" dirty="0"/>
          </a:p>
        </p:txBody>
      </p:sp>
      <p:sp>
        <p:nvSpPr>
          <p:cNvPr id="11" name="Text 9"/>
          <p:cNvSpPr txBox="1"/>
          <p:nvPr/>
        </p:nvSpPr>
        <p:spPr>
          <a:xfrm>
            <a:off x="6915150" y="2762250"/>
            <a:ext cx="4391025" cy="1809750"/>
          </a:xfrm>
          <a:prstGeom prst="rect">
            <a:avLst/>
          </a:prstGeom>
          <a:noFill/>
          <a:ln/>
        </p:spPr>
        <p:txBody>
          <a:bodyPr wrap="square" lIns="0" tIns="0" rIns="0" bIns="0" rtlCol="0" anchor="t"/>
          <a:lstStyle/>
          <a:p>
            <a:pPr indent="0" marL="0">
              <a:lnSpc>
                <a:spcPct val="108000"/>
              </a:lnSpc>
              <a:buNone/>
            </a:pPr>
            <a:r>
              <a:rPr lang="en-US" sz="1688" b="1" dirty="0">
                <a:solidFill>
                  <a:schemeClr val="tx1"/>
                </a:solidFill>
              </a:rPr>
              <a:t>Q: </a:t>
            </a:r>
            <a:r>
              <a:rPr lang="en-US" sz="1688" dirty="0">
                <a:solidFill>
                  <a:schemeClr val="tx1"/>
                </a:solidFill>
              </a:rPr>
              <a:t>When did </a:t>
            </a:r>
            <a:r>
              <a:rPr lang="en-US" sz="1688" i="1" dirty="0">
                <a:solidFill>
                  <a:schemeClr val="tx1"/>
                </a:solidFill>
              </a:rPr>
              <a:t>the company</a:t>
            </a:r>
            <a:r>
              <a:rPr lang="en-US" sz="1688" dirty="0">
                <a:solidFill>
                  <a:schemeClr val="tx1"/>
                </a:solidFill>
              </a:rPr>
              <a:t> take control of India?</a:t>
            </a:r>
            <a:endParaRPr lang="en-US" sz="1688" dirty="0"/>
          </a:p>
          <a:p>
            <a:pPr indent="0" marL="0">
              <a:lnSpc>
                <a:spcPct val="108000"/>
              </a:lnSpc>
              <a:buNone/>
            </a:pPr>
            <a:r>
              <a:rPr lang="en-US" sz="1688" b="1" dirty="0">
                <a:solidFill>
                  <a:schemeClr val="tx1"/>
                </a:solidFill>
              </a:rPr>
              <a:t>Passage: </a:t>
            </a:r>
            <a:r>
              <a:rPr lang="en-US" sz="1688" dirty="0">
                <a:solidFill>
                  <a:schemeClr val="tx1"/>
                </a:solidFill>
              </a:rPr>
              <a:t>...in 1611. </a:t>
            </a:r>
            <a:r>
              <a:rPr lang="en-US" sz="1688" dirty="0">
                <a:solidFill>
                  <a:schemeClr val="tx1"/>
                </a:solidFill>
                <a:highlight>
                  <a:srgbClr val="FDD9E5"/>
                </a:highlight>
              </a:rPr>
              <a:t>The Dutch East India Company established posts in India.</a:t>
            </a:r>
            <a:endParaRPr lang="en-US" sz="1688" dirty="0"/>
          </a:p>
          <a:p>
            <a:pPr indent="0" marL="0">
              <a:lnSpc>
                <a:spcPct val="108000"/>
              </a:lnSpc>
              <a:buNone/>
            </a:pPr>
            <a:r>
              <a:rPr lang="en-US" sz="1688" b="1" dirty="0">
                <a:solidFill>
                  <a:schemeClr val="tx1"/>
                </a:solidFill>
              </a:rPr>
              <a:t>Reply: </a:t>
            </a:r>
            <a:r>
              <a:rPr lang="en-US" sz="1688" dirty="0">
                <a:solidFill>
                  <a:schemeClr val="tx1"/>
                </a:solidFill>
              </a:rPr>
              <a:t>refuse, because "the company" is ambiguous</a:t>
            </a:r>
            <a:endParaRPr lang="en-US" sz="1688" dirty="0"/>
          </a:p>
        </p:txBody>
      </p:sp>
      <p:sp>
        <p:nvSpPr>
          <p:cNvPr id="12" name="Text 10"/>
          <p:cNvSpPr txBox="1"/>
          <p:nvPr/>
        </p:nvSpPr>
        <p:spPr>
          <a:xfrm>
            <a:off x="5524500" y="3028950"/>
            <a:ext cx="1143000" cy="952500"/>
          </a:xfrm>
          <a:prstGeom prst="rect">
            <a:avLst/>
          </a:prstGeom>
          <a:noFill/>
          <a:ln/>
        </p:spPr>
        <p:txBody>
          <a:bodyPr wrap="square" lIns="0" tIns="0" rIns="0" bIns="0" rtlCol="0" anchor="t"/>
          <a:lstStyle/>
          <a:p>
            <a:pPr algn="ctr" indent="0" marL="0">
              <a:buNone/>
            </a:pPr>
            <a:r>
              <a:rPr lang="en-US" sz="1200" dirty="0">
                <a:solidFill>
                  <a:schemeClr val="tx2"/>
                </a:solidFill>
              </a:rPr>
              <a:t>one sentence</a:t>
            </a:r>
            <a:endParaRPr lang="en-US" sz="1200" dirty="0"/>
          </a:p>
          <a:p>
            <a:pPr algn="ctr" indent="0" marL="0">
              <a:buNone/>
            </a:pPr>
            <a:r>
              <a:rPr lang="en-US" sz="1200" dirty="0">
                <a:solidFill>
                  <a:schemeClr val="tx2"/>
                </a:solidFill>
              </a:rPr>
              <a:t>changed</a:t>
            </a:r>
            <a:endParaRPr lang="en-US" sz="1200" dirty="0"/>
          </a:p>
          <a:p>
            <a:pPr algn="ctr" indent="0" marL="0">
              <a:buNone/>
            </a:pPr>
            <a:r>
              <a:rPr lang="en-US" sz="2250" dirty="0">
                <a:solidFill>
                  <a:schemeClr val="accent1"/>
                </a:solidFill>
              </a:rPr>
              <a:t>→</a:t>
            </a:r>
            <a:endParaRPr lang="en-US" sz="1200" dirty="0"/>
          </a:p>
        </p:txBody>
      </p:sp>
      <p:sp>
        <p:nvSpPr>
          <p:cNvPr id="13" name="Text 11"/>
          <p:cNvSpPr txBox="1"/>
          <p:nvPr/>
        </p:nvSpPr>
        <p:spPr>
          <a:xfrm>
            <a:off x="685800" y="4953000"/>
            <a:ext cx="10820400" cy="171450"/>
          </a:xfrm>
          <a:prstGeom prst="rect">
            <a:avLst/>
          </a:prstGeom>
          <a:noFill/>
          <a:ln/>
        </p:spPr>
        <p:txBody>
          <a:bodyPr wrap="square" lIns="0" tIns="0" rIns="0" bIns="0" rtlCol="0" anchor="t"/>
          <a:lstStyle/>
          <a:p>
            <a:pPr indent="0" marL="0">
              <a:buNone/>
            </a:pPr>
            <a:r>
              <a:rPr lang="en-US" sz="975" b="1" spc="120" kern="0" dirty="0">
                <a:solidFill>
                  <a:schemeClr val="tx2"/>
                </a:solidFill>
              </a:rPr>
              <a:t>SIX REASONS TO REFUSE, EACH WITH ITS OWN REFUSAL CODE</a:t>
            </a:r>
            <a:endParaRPr lang="en-US" sz="975" dirty="0"/>
          </a:p>
        </p:txBody>
      </p:sp>
      <p:sp>
        <p:nvSpPr>
          <p:cNvPr id="14" name="reason Ambiguity"/>
          <p:cNvSpPr/>
          <p:nvPr/>
        </p:nvSpPr>
        <p:spPr>
          <a:xfrm>
            <a:off x="685800" y="5210175"/>
            <a:ext cx="1057275" cy="304800"/>
          </a:xfrm>
          <a:prstGeom prst="roundRect">
            <a:avLst>
              <a:gd name="adj" fmla="val 50000"/>
            </a:avLst>
          </a:prstGeom>
          <a:solidFill>
            <a:srgbClr val="FDE3CF"/>
          </a:solidFill>
          <a:ln w="13970">
            <a:solidFill>
              <a:schemeClr val="accent1"/>
            </a:solidFill>
          </a:ln>
        </p:spPr>
        <p:txBody>
          <a:bodyPr wrap="square" lIns="0" tIns="0" rIns="0" bIns="0" rtlCol="0" anchor="ctr"/>
          <a:lstStyle/>
          <a:p>
            <a:pPr algn="ctr" indent="0" marL="0">
              <a:buNone/>
            </a:pPr>
            <a:r>
              <a:rPr lang="en-US" sz="1275" dirty="0">
                <a:solidFill>
                  <a:schemeClr val="tx1"/>
                </a:solidFill>
              </a:rPr>
              <a:t>Ambiguity</a:t>
            </a:r>
            <a:endParaRPr lang="en-US" sz="1275" dirty="0"/>
          </a:p>
        </p:txBody>
      </p:sp>
      <p:sp>
        <p:nvSpPr>
          <p:cNvPr id="15" name="reason Contradiction"/>
          <p:cNvSpPr/>
          <p:nvPr/>
        </p:nvSpPr>
        <p:spPr>
          <a:xfrm>
            <a:off x="1819275" y="5210175"/>
            <a:ext cx="1314450" cy="304800"/>
          </a:xfrm>
          <a:prstGeom prst="roundRect">
            <a:avLst>
              <a:gd name="adj" fmla="val 50000"/>
            </a:avLst>
          </a:prstGeom>
          <a:solidFill>
            <a:srgbClr val="FDE3CF"/>
          </a:solidFill>
          <a:ln w="13970">
            <a:solidFill>
              <a:schemeClr val="accent1"/>
            </a:solidFill>
          </a:ln>
        </p:spPr>
        <p:txBody>
          <a:bodyPr wrap="square" lIns="0" tIns="0" rIns="0" bIns="0" rtlCol="0" anchor="ctr"/>
          <a:lstStyle/>
          <a:p>
            <a:pPr algn="ctr" indent="0" marL="0">
              <a:buNone/>
            </a:pPr>
            <a:r>
              <a:rPr lang="en-US" sz="1275" dirty="0">
                <a:solidFill>
                  <a:schemeClr val="tx1"/>
                </a:solidFill>
              </a:rPr>
              <a:t>Contradiction</a:t>
            </a:r>
            <a:endParaRPr lang="en-US" sz="1275" dirty="0"/>
          </a:p>
        </p:txBody>
      </p:sp>
      <p:sp>
        <p:nvSpPr>
          <p:cNvPr id="16" name="reason Missing information"/>
          <p:cNvSpPr/>
          <p:nvPr/>
        </p:nvSpPr>
        <p:spPr>
          <a:xfrm>
            <a:off x="3209925" y="5210175"/>
            <a:ext cx="1800225" cy="304800"/>
          </a:xfrm>
          <a:prstGeom prst="roundRect">
            <a:avLst>
              <a:gd name="adj" fmla="val 50000"/>
            </a:avLst>
          </a:prstGeom>
          <a:solidFill>
            <a:srgbClr val="FDE3CF"/>
          </a:solidFill>
          <a:ln w="13970">
            <a:solidFill>
              <a:schemeClr val="accent1"/>
            </a:solidFill>
          </a:ln>
        </p:spPr>
        <p:txBody>
          <a:bodyPr wrap="square" lIns="0" tIns="0" rIns="0" bIns="0" rtlCol="0" anchor="ctr"/>
          <a:lstStyle/>
          <a:p>
            <a:pPr algn="ctr" indent="0" marL="0">
              <a:buNone/>
            </a:pPr>
            <a:r>
              <a:rPr lang="en-US" sz="1275" dirty="0">
                <a:solidFill>
                  <a:schemeClr val="tx1"/>
                </a:solidFill>
              </a:rPr>
              <a:t>Missing information</a:t>
            </a:r>
            <a:endParaRPr lang="en-US" sz="1275" dirty="0"/>
          </a:p>
        </p:txBody>
      </p:sp>
      <p:sp>
        <p:nvSpPr>
          <p:cNvPr id="17" name="reason False premise"/>
          <p:cNvSpPr/>
          <p:nvPr/>
        </p:nvSpPr>
        <p:spPr>
          <a:xfrm>
            <a:off x="5086350" y="5210175"/>
            <a:ext cx="1343025" cy="304800"/>
          </a:xfrm>
          <a:prstGeom prst="roundRect">
            <a:avLst>
              <a:gd name="adj" fmla="val 50000"/>
            </a:avLst>
          </a:prstGeom>
          <a:solidFill>
            <a:srgbClr val="FDE3CF"/>
          </a:solidFill>
          <a:ln w="13970">
            <a:solidFill>
              <a:schemeClr val="accent1"/>
            </a:solidFill>
          </a:ln>
        </p:spPr>
        <p:txBody>
          <a:bodyPr wrap="square" lIns="0" tIns="0" rIns="0" bIns="0" rtlCol="0" anchor="ctr"/>
          <a:lstStyle/>
          <a:p>
            <a:pPr algn="ctr" indent="0" marL="0">
              <a:buNone/>
            </a:pPr>
            <a:r>
              <a:rPr lang="en-US" sz="1275" dirty="0">
                <a:solidFill>
                  <a:schemeClr val="tx1"/>
                </a:solidFill>
              </a:rPr>
              <a:t>False premise</a:t>
            </a:r>
            <a:endParaRPr lang="en-US" sz="1275" dirty="0"/>
          </a:p>
        </p:txBody>
      </p:sp>
      <p:sp>
        <p:nvSpPr>
          <p:cNvPr id="18" name="reason Granularity mismatch"/>
          <p:cNvSpPr/>
          <p:nvPr/>
        </p:nvSpPr>
        <p:spPr>
          <a:xfrm>
            <a:off x="6496050" y="5210175"/>
            <a:ext cx="1924050" cy="304800"/>
          </a:xfrm>
          <a:prstGeom prst="roundRect">
            <a:avLst>
              <a:gd name="adj" fmla="val 50000"/>
            </a:avLst>
          </a:prstGeom>
          <a:solidFill>
            <a:srgbClr val="FDE3CF"/>
          </a:solidFill>
          <a:ln w="13970">
            <a:solidFill>
              <a:schemeClr val="accent1"/>
            </a:solidFill>
          </a:ln>
        </p:spPr>
        <p:txBody>
          <a:bodyPr wrap="square" lIns="0" tIns="0" rIns="0" bIns="0" rtlCol="0" anchor="ctr"/>
          <a:lstStyle/>
          <a:p>
            <a:pPr algn="ctr" indent="0" marL="0">
              <a:buNone/>
            </a:pPr>
            <a:r>
              <a:rPr lang="en-US" sz="1275" dirty="0">
                <a:solidFill>
                  <a:schemeClr val="tx1"/>
                </a:solidFill>
              </a:rPr>
              <a:t>Granularity mismatch</a:t>
            </a:r>
            <a:endParaRPr lang="en-US" sz="1275" dirty="0"/>
          </a:p>
        </p:txBody>
      </p:sp>
      <p:sp>
        <p:nvSpPr>
          <p:cNvPr id="19" name="reason Epistemic mismatch"/>
          <p:cNvSpPr/>
          <p:nvPr/>
        </p:nvSpPr>
        <p:spPr>
          <a:xfrm>
            <a:off x="8496300" y="5210175"/>
            <a:ext cx="1809750" cy="304800"/>
          </a:xfrm>
          <a:prstGeom prst="roundRect">
            <a:avLst>
              <a:gd name="adj" fmla="val 50000"/>
            </a:avLst>
          </a:prstGeom>
          <a:solidFill>
            <a:srgbClr val="FDE3CF"/>
          </a:solidFill>
          <a:ln w="13970">
            <a:solidFill>
              <a:schemeClr val="accent1"/>
            </a:solidFill>
          </a:ln>
        </p:spPr>
        <p:txBody>
          <a:bodyPr wrap="square" lIns="0" tIns="0" rIns="0" bIns="0" rtlCol="0" anchor="ctr"/>
          <a:lstStyle/>
          <a:p>
            <a:pPr algn="ctr" indent="0" marL="0">
              <a:buNone/>
            </a:pPr>
            <a:r>
              <a:rPr lang="en-US" sz="1275" dirty="0">
                <a:solidFill>
                  <a:schemeClr val="tx1"/>
                </a:solidFill>
              </a:rPr>
              <a:t>Epistemic mismatch</a:t>
            </a:r>
            <a:endParaRPr lang="en-US" sz="1275" dirty="0"/>
          </a:p>
        </p:txBody>
      </p:sp>
      <p:sp>
        <p:nvSpPr>
          <p:cNvPr id="20" name="Text 18"/>
          <p:cNvSpPr txBox="1"/>
          <p:nvPr/>
        </p:nvSpPr>
        <p:spPr>
          <a:xfrm>
            <a:off x="685800" y="5838825"/>
            <a:ext cx="10820400" cy="533400"/>
          </a:xfrm>
          <a:prstGeom prst="rect">
            <a:avLst/>
          </a:prstGeom>
          <a:noFill/>
          <a:ln/>
        </p:spPr>
        <p:txBody>
          <a:bodyPr wrap="square" lIns="0" tIns="0" rIns="0" bIns="0" rtlCol="0" anchor="t"/>
          <a:lstStyle/>
          <a:p>
            <a:pPr indent="0" marL="0">
              <a:buNone/>
            </a:pPr>
            <a:r>
              <a:rPr lang="en-US" sz="1425" dirty="0">
                <a:solidFill>
                  <a:schemeClr val="tx2"/>
                </a:solidFill>
              </a:rPr>
              <a:t>Why it matters: the paper reports models refusing over 60% of answerable queries, or answering confidently despite critical defects. And a static test set is easy to memorize, so the paper </a:t>
            </a:r>
            <a:r>
              <a:rPr lang="en-US" sz="1425" b="1" dirty="0">
                <a:solidFill>
                  <a:schemeClr val="tx1"/>
                </a:solidFill>
              </a:rPr>
              <a:t>generates</a:t>
            </a:r>
            <a:r>
              <a:rPr lang="en-US" sz="1425" dirty="0">
                <a:solidFill>
                  <a:schemeClr val="tx2"/>
                </a:solidFill>
              </a:rPr>
              <a:t> its test cases instead.</a:t>
            </a:r>
            <a:endParaRPr lang="en-US" sz="1425"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body" hasCustomPrompt="1"/>
          </p:nvPr>
        </p:nvSpPr>
        <p:spPr>
          <a:xfrm>
            <a:off x="685800" y="390525"/>
            <a:ext cx="8572500" cy="190500"/>
          </a:xfrm>
          <a:prstGeom prst="rect">
            <a:avLst/>
          </a:prstGeom>
          <a:noFill/>
          <a:ln/>
        </p:spPr>
        <p:txBody>
          <a:bodyPr wrap="square" lIns="0" tIns="0" rIns="0" bIns="0" rtlCol="0" anchor="t"/>
          <a:lstStyle/>
          <a:p>
            <a:pPr indent="0" marL="0">
              <a:buNone/>
            </a:pPr>
            <a:r>
              <a:rPr lang="en-US" sz="1125" b="1" spc="140" kern="0" dirty="0">
                <a:solidFill>
                  <a:schemeClr val="accent1"/>
                </a:solidFill>
              </a:rPr>
              <a:t>THE PAPER · SOLUTION</a:t>
            </a:r>
            <a:endParaRPr lang="en-US" sz="1125" dirty="0"/>
          </a:p>
        </p:txBody>
      </p:sp>
      <p:sp>
        <p:nvSpPr>
          <p:cNvPr id="3" name="Text 1"/>
          <p:cNvSpPr/>
          <p:nvPr>
            <p:ph idx="102" type="title" hasCustomPrompt="1"/>
          </p:nvPr>
        </p:nvSpPr>
        <p:spPr>
          <a:xfrm>
            <a:off x="685800" y="647700"/>
            <a:ext cx="10820400" cy="838200"/>
          </a:xfrm>
          <a:prstGeom prst="rect">
            <a:avLst/>
          </a:prstGeom>
          <a:noFill/>
          <a:ln/>
        </p:spPr>
        <p:txBody>
          <a:bodyPr wrap="square" lIns="0" tIns="0" rIns="0" bIns="0" rtlCol="0" anchor="t"/>
          <a:lstStyle/>
          <a:p>
            <a:pPr algn="l" indent="0" marL="0">
              <a:buNone/>
            </a:pPr>
            <a:r>
              <a:rPr lang="en-US" sz="2700" b="1" dirty="0">
                <a:solidFill>
                  <a:schemeClr val="tx1"/>
                </a:solidFill>
                <a:latin typeface="Cambria" pitchFamily="34" charset="0"/>
                <a:ea typeface="Cambria" pitchFamily="34" charset="-122"/>
                <a:cs typeface="Cambria" pitchFamily="34" charset="-120"/>
              </a:rPr>
              <a:t>RefusalBench: break good evidence on purpose, then score the replies</a:t>
            </a:r>
            <a:endParaRPr lang="en-US" sz="2700" dirty="0"/>
          </a:p>
        </p:txBody>
      </p:sp>
      <p:sp>
        <p:nvSpPr>
          <p:cNvPr id="4" name="part indicator"/>
          <p:cNvSpPr txBox="1"/>
          <p:nvPr/>
        </p:nvSpPr>
        <p:spPr>
          <a:xfrm>
            <a:off x="9382125" y="190500"/>
            <a:ext cx="2428875" cy="190500"/>
          </a:xfrm>
          <a:prstGeom prst="rect">
            <a:avLst/>
          </a:prstGeom>
          <a:noFill/>
          <a:ln/>
        </p:spPr>
        <p:txBody>
          <a:bodyPr wrap="square" lIns="0" tIns="0" rIns="0" bIns="0" rtlCol="0" anchor="t"/>
          <a:lstStyle/>
          <a:p>
            <a:pPr algn="r" indent="0" marL="0">
              <a:buNone/>
            </a:pPr>
            <a:r>
              <a:rPr lang="en-US" sz="975" b="1" u="sng" dirty="0">
                <a:solidFill>
                  <a:schemeClr val="tx1"/>
                </a:solidFill>
                <a:uFill>
                  <a:solidFill>
                    <a:srgbClr val="B5541A"/>
                  </a:solidFill>
                </a:uFill>
              </a:rPr>
              <a:t>The paper</a:t>
            </a:r>
            <a:r>
              <a:rPr lang="en-US" sz="975" dirty="0">
                <a:solidFill>
                  <a:schemeClr val="tx2"/>
                </a:solidFill>
              </a:rPr>
              <a:t>     </a:t>
            </a:r>
            <a:r>
              <a:rPr lang="en-US" sz="975" dirty="0">
                <a:solidFill>
                  <a:schemeClr val="tx2"/>
                </a:solidFill>
              </a:rPr>
              <a:t>Extension 1</a:t>
            </a:r>
            <a:r>
              <a:rPr lang="en-US" sz="975" dirty="0">
                <a:solidFill>
                  <a:schemeClr val="tx2"/>
                </a:solidFill>
              </a:rPr>
              <a:t>     </a:t>
            </a:r>
            <a:r>
              <a:rPr lang="en-US" sz="975" dirty="0">
                <a:solidFill>
                  <a:schemeClr val="tx2"/>
                </a:solidFill>
              </a:rPr>
              <a:t>Extension 2</a:t>
            </a:r>
            <a:endParaRPr lang="en-US" sz="975" dirty="0"/>
          </a:p>
        </p:txBody>
      </p:sp>
      <p:sp>
        <p:nvSpPr>
          <p:cNvPr id="5" name="Text 3"/>
          <p:cNvSpPr txBox="1"/>
          <p:nvPr/>
        </p:nvSpPr>
        <p:spPr>
          <a:xfrm>
            <a:off x="685800" y="1981200"/>
            <a:ext cx="10820400" cy="171450"/>
          </a:xfrm>
          <a:prstGeom prst="rect">
            <a:avLst/>
          </a:prstGeom>
          <a:noFill/>
          <a:ln/>
        </p:spPr>
        <p:txBody>
          <a:bodyPr wrap="square" lIns="0" tIns="0" rIns="0" bIns="0" rtlCol="0" anchor="t"/>
          <a:lstStyle/>
          <a:p>
            <a:pPr indent="0" marL="0">
              <a:buNone/>
            </a:pPr>
            <a:r>
              <a:rPr lang="en-US" sz="975" b="1" spc="120" kern="0" dirty="0">
                <a:solidFill>
                  <a:schemeClr val="tx2"/>
                </a:solidFill>
              </a:rPr>
              <a:t>1 · BUILDING THE TEST (DONE BY THE PAPER'S AUTHORS)</a:t>
            </a:r>
            <a:endParaRPr lang="en-US" sz="975" dirty="0"/>
          </a:p>
        </p:txBody>
      </p:sp>
      <p:sp>
        <p:nvSpPr>
          <p:cNvPr id="6" name="Shape 4"/>
          <p:cNvSpPr/>
          <p:nvPr/>
        </p:nvSpPr>
        <p:spPr>
          <a:xfrm>
            <a:off x="685800" y="2200275"/>
            <a:ext cx="2438400" cy="1181100"/>
          </a:xfrm>
          <a:prstGeom prst="roundRect">
            <a:avLst>
              <a:gd name="adj" fmla="val 5419"/>
            </a:avLst>
          </a:prstGeom>
          <a:solidFill>
            <a:srgbClr val="E7EFFC"/>
          </a:solidFill>
          <a:ln w="17145">
            <a:solidFill>
              <a:schemeClr val="accent3"/>
            </a:solidFill>
            <a:prstDash val="solid"/>
          </a:ln>
        </p:spPr>
      </p:sp>
      <p:sp>
        <p:nvSpPr>
          <p:cNvPr id="7" name="Text 5"/>
          <p:cNvSpPr txBox="1"/>
          <p:nvPr/>
        </p:nvSpPr>
        <p:spPr>
          <a:xfrm>
            <a:off x="819150" y="2295525"/>
            <a:ext cx="2171700" cy="990600"/>
          </a:xfrm>
          <a:prstGeom prst="rect">
            <a:avLst/>
          </a:prstGeom>
          <a:noFill/>
          <a:ln/>
        </p:spPr>
        <p:txBody>
          <a:bodyPr wrap="square" lIns="0" tIns="0" rIns="0" bIns="0" rtlCol="0" anchor="ctr"/>
          <a:lstStyle/>
          <a:p>
            <a:pPr indent="0" marL="0">
              <a:lnSpc>
                <a:spcPct val="105000"/>
              </a:lnSpc>
              <a:buNone/>
            </a:pPr>
            <a:r>
              <a:rPr lang="en-US" sz="1575" b="1" dirty="0">
                <a:solidFill>
                  <a:schemeClr val="tx1"/>
                </a:solidFill>
              </a:rPr>
              <a:t>100 questions</a:t>
            </a:r>
            <a:endParaRPr lang="en-US" sz="1575" dirty="0"/>
          </a:p>
          <a:p>
            <a:pPr indent="0" marL="0">
              <a:lnSpc>
                <a:spcPct val="105000"/>
              </a:lnSpc>
              <a:spcBef>
                <a:spcPts val="300"/>
              </a:spcBef>
              <a:buNone/>
            </a:pPr>
            <a:r>
              <a:rPr lang="en-US" sz="1238" dirty="0">
                <a:solidFill>
                  <a:schemeClr val="tx2"/>
                </a:solidFill>
              </a:rPr>
              <a:t>good passage, answered correctly by every strong model</a:t>
            </a:r>
            <a:endParaRPr lang="en-US" sz="1575" dirty="0"/>
          </a:p>
        </p:txBody>
      </p:sp>
      <p:sp>
        <p:nvSpPr>
          <p:cNvPr id="8" name="Shape 6"/>
          <p:cNvSpPr/>
          <p:nvPr/>
        </p:nvSpPr>
        <p:spPr>
          <a:xfrm>
            <a:off x="3152775" y="2790825"/>
            <a:ext cx="285750" cy="0"/>
          </a:xfrm>
          <a:prstGeom prst="line">
            <a:avLst/>
          </a:prstGeom>
          <a:noFill/>
          <a:ln w="19050">
            <a:solidFill>
              <a:schemeClr val="tx1"/>
            </a:solidFill>
            <a:prstDash val="solid"/>
            <a:tailEnd type="triangle"/>
          </a:ln>
        </p:spPr>
      </p:sp>
      <p:sp>
        <p:nvSpPr>
          <p:cNvPr id="9" name="Shape 7"/>
          <p:cNvSpPr/>
          <p:nvPr/>
        </p:nvSpPr>
        <p:spPr>
          <a:xfrm>
            <a:off x="3486150" y="2200275"/>
            <a:ext cx="2438400" cy="1181100"/>
          </a:xfrm>
          <a:prstGeom prst="roundRect">
            <a:avLst>
              <a:gd name="adj" fmla="val 5419"/>
            </a:avLst>
          </a:prstGeom>
          <a:solidFill>
            <a:srgbClr val="E7EFFC"/>
          </a:solidFill>
          <a:ln w="17145">
            <a:solidFill>
              <a:schemeClr val="accent3"/>
            </a:solidFill>
            <a:prstDash val="solid"/>
          </a:ln>
        </p:spPr>
      </p:sp>
      <p:sp>
        <p:nvSpPr>
          <p:cNvPr id="10" name="Text 8"/>
          <p:cNvSpPr txBox="1"/>
          <p:nvPr/>
        </p:nvSpPr>
        <p:spPr>
          <a:xfrm>
            <a:off x="3619500" y="2295525"/>
            <a:ext cx="2171700" cy="990600"/>
          </a:xfrm>
          <a:prstGeom prst="rect">
            <a:avLst/>
          </a:prstGeom>
          <a:noFill/>
          <a:ln/>
        </p:spPr>
        <p:txBody>
          <a:bodyPr wrap="square" lIns="0" tIns="0" rIns="0" bIns="0" rtlCol="0" anchor="ctr"/>
          <a:lstStyle/>
          <a:p>
            <a:pPr indent="0" marL="0">
              <a:lnSpc>
                <a:spcPct val="105000"/>
              </a:lnSpc>
              <a:buNone/>
            </a:pPr>
            <a:r>
              <a:rPr lang="en-US" sz="1575" b="1" dirty="0">
                <a:solidFill>
                  <a:schemeClr val="tx1"/>
                </a:solidFill>
              </a:rPr>
              <a:t>Break them</a:t>
            </a:r>
            <a:endParaRPr lang="en-US" sz="1575" dirty="0"/>
          </a:p>
          <a:p>
            <a:pPr indent="0" marL="0">
              <a:lnSpc>
                <a:spcPct val="105000"/>
              </a:lnSpc>
              <a:spcBef>
                <a:spcPts val="300"/>
              </a:spcBef>
              <a:buNone/>
            </a:pPr>
            <a:r>
              <a:rPr lang="en-US" sz="1238" dirty="0">
                <a:solidFill>
                  <a:schemeClr val="tx2"/>
                </a:solidFill>
              </a:rPr>
              <a:t>176 rewrite rules, 6 failure types, 3 strengths</a:t>
            </a:r>
            <a:endParaRPr lang="en-US" sz="1575" dirty="0"/>
          </a:p>
        </p:txBody>
      </p:sp>
      <p:sp>
        <p:nvSpPr>
          <p:cNvPr id="11" name="Shape 9"/>
          <p:cNvSpPr/>
          <p:nvPr/>
        </p:nvSpPr>
        <p:spPr>
          <a:xfrm>
            <a:off x="5953125" y="2790825"/>
            <a:ext cx="285750" cy="0"/>
          </a:xfrm>
          <a:prstGeom prst="line">
            <a:avLst/>
          </a:prstGeom>
          <a:noFill/>
          <a:ln w="19050">
            <a:solidFill>
              <a:schemeClr val="tx1"/>
            </a:solidFill>
            <a:prstDash val="solid"/>
            <a:tailEnd type="triangle"/>
          </a:ln>
        </p:spPr>
      </p:sp>
      <p:sp>
        <p:nvSpPr>
          <p:cNvPr id="12" name="Shape 10"/>
          <p:cNvSpPr/>
          <p:nvPr/>
        </p:nvSpPr>
        <p:spPr>
          <a:xfrm>
            <a:off x="6276975" y="2200275"/>
            <a:ext cx="2438400" cy="1181100"/>
          </a:xfrm>
          <a:prstGeom prst="roundRect">
            <a:avLst>
              <a:gd name="adj" fmla="val 5419"/>
            </a:avLst>
          </a:prstGeom>
          <a:solidFill>
            <a:srgbClr val="E7EFFC"/>
          </a:solidFill>
          <a:ln w="17145">
            <a:solidFill>
              <a:schemeClr val="accent3"/>
            </a:solidFill>
            <a:prstDash val="solid"/>
          </a:ln>
        </p:spPr>
      </p:sp>
      <p:sp>
        <p:nvSpPr>
          <p:cNvPr id="13" name="Text 11"/>
          <p:cNvSpPr txBox="1"/>
          <p:nvPr/>
        </p:nvSpPr>
        <p:spPr>
          <a:xfrm>
            <a:off x="6410325" y="2295525"/>
            <a:ext cx="2171700" cy="990600"/>
          </a:xfrm>
          <a:prstGeom prst="rect">
            <a:avLst/>
          </a:prstGeom>
          <a:noFill/>
          <a:ln/>
        </p:spPr>
        <p:txBody>
          <a:bodyPr wrap="square" lIns="0" tIns="0" rIns="0" bIns="0" rtlCol="0" anchor="ctr"/>
          <a:lstStyle/>
          <a:p>
            <a:pPr indent="0" marL="0">
              <a:lnSpc>
                <a:spcPct val="105000"/>
              </a:lnSpc>
              <a:buNone/>
            </a:pPr>
            <a:r>
              <a:rPr lang="en-US" sz="1575" b="1" dirty="0">
                <a:solidFill>
                  <a:schemeClr val="tx1"/>
                </a:solidFill>
              </a:rPr>
              <a:t>Generate and verify</a:t>
            </a:r>
            <a:endParaRPr lang="en-US" sz="1575" dirty="0"/>
          </a:p>
          <a:p>
            <a:pPr indent="0" marL="0">
              <a:lnSpc>
                <a:spcPct val="105000"/>
              </a:lnSpc>
              <a:spcBef>
                <a:spcPts val="300"/>
              </a:spcBef>
              <a:buNone/>
            </a:pPr>
            <a:r>
              <a:rPr lang="en-US" sz="1238" dirty="0">
                <a:solidFill>
                  <a:schemeClr val="tx2"/>
                </a:solidFill>
              </a:rPr>
              <a:t>4 LLMs write them, all 4 must approve</a:t>
            </a:r>
            <a:endParaRPr lang="en-US" sz="1575" dirty="0"/>
          </a:p>
        </p:txBody>
      </p:sp>
      <p:sp>
        <p:nvSpPr>
          <p:cNvPr id="14" name="Shape 12"/>
          <p:cNvSpPr/>
          <p:nvPr/>
        </p:nvSpPr>
        <p:spPr>
          <a:xfrm>
            <a:off x="8743950" y="2790825"/>
            <a:ext cx="285750" cy="0"/>
          </a:xfrm>
          <a:prstGeom prst="line">
            <a:avLst/>
          </a:prstGeom>
          <a:noFill/>
          <a:ln w="19050">
            <a:solidFill>
              <a:schemeClr val="tx1"/>
            </a:solidFill>
            <a:prstDash val="solid"/>
            <a:tailEnd type="triangle"/>
          </a:ln>
        </p:spPr>
      </p:sp>
      <p:sp>
        <p:nvSpPr>
          <p:cNvPr id="15" name="Shape 13"/>
          <p:cNvSpPr/>
          <p:nvPr/>
        </p:nvSpPr>
        <p:spPr>
          <a:xfrm>
            <a:off x="9077325" y="2200275"/>
            <a:ext cx="2438400" cy="1181100"/>
          </a:xfrm>
          <a:prstGeom prst="roundRect">
            <a:avLst>
              <a:gd name="adj" fmla="val 5419"/>
            </a:avLst>
          </a:prstGeom>
          <a:solidFill>
            <a:schemeClr val="tx1"/>
          </a:solidFill>
          <a:ln w="17145">
            <a:solidFill>
              <a:schemeClr val="tx1"/>
            </a:solidFill>
            <a:prstDash val="solid"/>
          </a:ln>
        </p:spPr>
      </p:sp>
      <p:sp>
        <p:nvSpPr>
          <p:cNvPr id="16" name="Text 14"/>
          <p:cNvSpPr txBox="1"/>
          <p:nvPr/>
        </p:nvSpPr>
        <p:spPr>
          <a:xfrm>
            <a:off x="9210675" y="2295525"/>
            <a:ext cx="2171700" cy="990600"/>
          </a:xfrm>
          <a:prstGeom prst="rect">
            <a:avLst/>
          </a:prstGeom>
          <a:noFill/>
          <a:ln/>
        </p:spPr>
        <p:txBody>
          <a:bodyPr wrap="square" lIns="0" tIns="0" rIns="0" bIns="0" rtlCol="0" anchor="ctr"/>
          <a:lstStyle/>
          <a:p>
            <a:pPr indent="0" marL="0">
              <a:lnSpc>
                <a:spcPct val="105000"/>
              </a:lnSpc>
              <a:buNone/>
            </a:pPr>
            <a:r>
              <a:rPr lang="en-US" sz="1575" b="1" dirty="0">
                <a:solidFill>
                  <a:schemeClr val="bg1"/>
                </a:solidFill>
              </a:rPr>
              <a:t>1,600 examples</a:t>
            </a:r>
            <a:endParaRPr lang="en-US" sz="1575" dirty="0"/>
          </a:p>
          <a:p>
            <a:pPr indent="0" marL="0">
              <a:lnSpc>
                <a:spcPct val="105000"/>
              </a:lnSpc>
              <a:spcBef>
                <a:spcPts val="300"/>
              </a:spcBef>
              <a:buNone/>
            </a:pPr>
            <a:r>
              <a:rPr lang="en-US" sz="1238" dirty="0">
                <a:solidFill>
                  <a:srgbClr val="C9D0DE"/>
                </a:solidFill>
              </a:rPr>
              <a:t>the released test set, 93.1% valid by hand</a:t>
            </a:r>
            <a:endParaRPr lang="en-US" sz="1575" dirty="0"/>
          </a:p>
        </p:txBody>
      </p:sp>
      <p:sp>
        <p:nvSpPr>
          <p:cNvPr id="17" name="Shape 15"/>
          <p:cNvSpPr/>
          <p:nvPr/>
        </p:nvSpPr>
        <p:spPr>
          <a:xfrm>
            <a:off x="685800" y="3514725"/>
            <a:ext cx="3629025" cy="438150"/>
          </a:xfrm>
          <a:prstGeom prst="rect">
            <a:avLst/>
          </a:prstGeom>
          <a:solidFill>
            <a:schemeClr val="accent2"/>
          </a:solidFill>
          <a:ln/>
        </p:spPr>
      </p:sp>
      <p:sp>
        <p:nvSpPr>
          <p:cNvPr id="18" name="Shape 16"/>
          <p:cNvSpPr/>
          <p:nvPr/>
        </p:nvSpPr>
        <p:spPr>
          <a:xfrm>
            <a:off x="4314825" y="3514725"/>
            <a:ext cx="7191375" cy="438150"/>
          </a:xfrm>
          <a:prstGeom prst="rect">
            <a:avLst/>
          </a:prstGeom>
          <a:solidFill>
            <a:schemeClr val="accent4"/>
          </a:solidFill>
          <a:ln/>
        </p:spPr>
      </p:sp>
      <p:sp>
        <p:nvSpPr>
          <p:cNvPr id="19" name="Text 17"/>
          <p:cNvSpPr txBox="1"/>
          <p:nvPr/>
        </p:nvSpPr>
        <p:spPr>
          <a:xfrm>
            <a:off x="685800" y="3514725"/>
            <a:ext cx="3629025" cy="438150"/>
          </a:xfrm>
          <a:prstGeom prst="rect">
            <a:avLst/>
          </a:prstGeom>
          <a:noFill/>
          <a:ln/>
        </p:spPr>
        <p:txBody>
          <a:bodyPr wrap="square" lIns="0" tIns="0" rIns="0" bIns="0" rtlCol="0" anchor="ctr"/>
          <a:lstStyle/>
          <a:p>
            <a:pPr algn="ctr" indent="0" marL="0">
              <a:buNone/>
            </a:pPr>
            <a:r>
              <a:rPr lang="en-US" sz="1350" b="1" dirty="0">
                <a:solidFill>
                  <a:schemeClr val="bg1"/>
                </a:solidFill>
              </a:rPr>
              <a:t>536 answerable (LOW strength)</a:t>
            </a:r>
            <a:endParaRPr lang="en-US" sz="1350" dirty="0"/>
          </a:p>
        </p:txBody>
      </p:sp>
      <p:sp>
        <p:nvSpPr>
          <p:cNvPr id="20" name="Text 18"/>
          <p:cNvSpPr txBox="1"/>
          <p:nvPr/>
        </p:nvSpPr>
        <p:spPr>
          <a:xfrm>
            <a:off x="4314825" y="3514725"/>
            <a:ext cx="7191375" cy="438150"/>
          </a:xfrm>
          <a:prstGeom prst="rect">
            <a:avLst/>
          </a:prstGeom>
          <a:noFill/>
          <a:ln/>
        </p:spPr>
        <p:txBody>
          <a:bodyPr wrap="square" lIns="0" tIns="0" rIns="0" bIns="0" rtlCol="0" anchor="ctr"/>
          <a:lstStyle/>
          <a:p>
            <a:pPr algn="ctr" indent="0" marL="0">
              <a:buNone/>
            </a:pPr>
            <a:r>
              <a:rPr lang="en-US" sz="1350" b="1" dirty="0">
                <a:solidFill>
                  <a:schemeClr val="bg1"/>
                </a:solidFill>
              </a:rPr>
              <a:t>1,064 must be refused (MEDIUM, HIGH)</a:t>
            </a:r>
            <a:endParaRPr lang="en-US" sz="1350" dirty="0"/>
          </a:p>
        </p:txBody>
      </p:sp>
      <p:sp>
        <p:nvSpPr>
          <p:cNvPr id="21" name="Text 19"/>
          <p:cNvSpPr txBox="1"/>
          <p:nvPr/>
        </p:nvSpPr>
        <p:spPr>
          <a:xfrm>
            <a:off x="685800" y="4314825"/>
            <a:ext cx="10820400" cy="171450"/>
          </a:xfrm>
          <a:prstGeom prst="rect">
            <a:avLst/>
          </a:prstGeom>
          <a:noFill/>
          <a:ln/>
        </p:spPr>
        <p:txBody>
          <a:bodyPr wrap="square" lIns="0" tIns="0" rIns="0" bIns="0" rtlCol="0" anchor="t"/>
          <a:lstStyle/>
          <a:p>
            <a:pPr indent="0" marL="0">
              <a:buNone/>
            </a:pPr>
            <a:r>
              <a:rPr lang="en-US" sz="975" b="1" spc="120" kern="0" dirty="0">
                <a:solidFill>
                  <a:schemeClr val="tx2"/>
                </a:solidFill>
              </a:rPr>
              <a:t>2 · SCORING A MODEL</a:t>
            </a:r>
            <a:endParaRPr lang="en-US" sz="975" dirty="0"/>
          </a:p>
        </p:txBody>
      </p:sp>
      <p:sp>
        <p:nvSpPr>
          <p:cNvPr id="22" name="Shape 20"/>
          <p:cNvSpPr/>
          <p:nvPr/>
        </p:nvSpPr>
        <p:spPr>
          <a:xfrm>
            <a:off x="685800" y="4876800"/>
            <a:ext cx="2514600" cy="1181100"/>
          </a:xfrm>
          <a:prstGeom prst="roundRect">
            <a:avLst>
              <a:gd name="adj" fmla="val 5419"/>
            </a:avLst>
          </a:prstGeom>
          <a:solidFill>
            <a:srgbClr val="DEF4F0"/>
          </a:solidFill>
          <a:ln w="17145">
            <a:solidFill>
              <a:schemeClr val="accent2"/>
            </a:solidFill>
            <a:prstDash val="solid"/>
          </a:ln>
        </p:spPr>
      </p:sp>
      <p:sp>
        <p:nvSpPr>
          <p:cNvPr id="23" name="Text 21"/>
          <p:cNvSpPr txBox="1"/>
          <p:nvPr/>
        </p:nvSpPr>
        <p:spPr>
          <a:xfrm>
            <a:off x="819150" y="4972050"/>
            <a:ext cx="2247900" cy="990600"/>
          </a:xfrm>
          <a:prstGeom prst="rect">
            <a:avLst/>
          </a:prstGeom>
          <a:noFill/>
          <a:ln/>
        </p:spPr>
        <p:txBody>
          <a:bodyPr wrap="square" lIns="0" tIns="0" rIns="0" bIns="0" rtlCol="0" anchor="ctr"/>
          <a:lstStyle/>
          <a:p>
            <a:pPr indent="0" marL="0">
              <a:lnSpc>
                <a:spcPct val="105000"/>
              </a:lnSpc>
              <a:buNone/>
            </a:pPr>
            <a:r>
              <a:rPr lang="en-US" sz="1575" b="1" dirty="0">
                <a:solidFill>
                  <a:schemeClr val="tx1"/>
                </a:solidFill>
              </a:rPr>
              <a:t>Target model</a:t>
            </a:r>
            <a:endParaRPr lang="en-US" sz="1575" dirty="0"/>
          </a:p>
          <a:p>
            <a:pPr indent="0" marL="0">
              <a:lnSpc>
                <a:spcPct val="105000"/>
              </a:lnSpc>
              <a:spcBef>
                <a:spcPts val="300"/>
              </a:spcBef>
              <a:buNone/>
            </a:pPr>
            <a:r>
              <a:rPr lang="en-US" sz="1238" dirty="0">
                <a:solidFill>
                  <a:schemeClr val="tx2"/>
                </a:solidFill>
              </a:rPr>
              <a:t>the model being tested</a:t>
            </a:r>
            <a:endParaRPr lang="en-US" sz="1575" dirty="0"/>
          </a:p>
        </p:txBody>
      </p:sp>
      <p:sp>
        <p:nvSpPr>
          <p:cNvPr id="24" name="Shape 22"/>
          <p:cNvSpPr/>
          <p:nvPr/>
        </p:nvSpPr>
        <p:spPr>
          <a:xfrm>
            <a:off x="3238500" y="5457825"/>
            <a:ext cx="285750" cy="0"/>
          </a:xfrm>
          <a:prstGeom prst="line">
            <a:avLst/>
          </a:prstGeom>
          <a:noFill/>
          <a:ln w="19050">
            <a:solidFill>
              <a:schemeClr val="tx1"/>
            </a:solidFill>
            <a:prstDash val="solid"/>
            <a:tailEnd type="triangle"/>
          </a:ln>
        </p:spPr>
      </p:sp>
      <p:sp>
        <p:nvSpPr>
          <p:cNvPr id="25" name="Shape 23"/>
          <p:cNvSpPr/>
          <p:nvPr/>
        </p:nvSpPr>
        <p:spPr>
          <a:xfrm>
            <a:off x="3562350" y="4876800"/>
            <a:ext cx="2514600" cy="1181100"/>
          </a:xfrm>
          <a:prstGeom prst="roundRect">
            <a:avLst>
              <a:gd name="adj" fmla="val 5419"/>
            </a:avLst>
          </a:prstGeom>
          <a:solidFill>
            <a:schemeClr val="bg1"/>
          </a:solidFill>
          <a:ln w="17145">
            <a:solidFill>
              <a:schemeClr val="tx1"/>
            </a:solidFill>
            <a:prstDash val="solid"/>
          </a:ln>
        </p:spPr>
      </p:sp>
      <p:sp>
        <p:nvSpPr>
          <p:cNvPr id="26" name="Text 24"/>
          <p:cNvSpPr txBox="1"/>
          <p:nvPr/>
        </p:nvSpPr>
        <p:spPr>
          <a:xfrm>
            <a:off x="3695700" y="4972050"/>
            <a:ext cx="2247900" cy="990600"/>
          </a:xfrm>
          <a:prstGeom prst="rect">
            <a:avLst/>
          </a:prstGeom>
          <a:noFill/>
          <a:ln/>
        </p:spPr>
        <p:txBody>
          <a:bodyPr wrap="square" lIns="0" tIns="0" rIns="0" bIns="0" rtlCol="0" anchor="ctr"/>
          <a:lstStyle/>
          <a:p>
            <a:pPr indent="0" marL="0">
              <a:lnSpc>
                <a:spcPct val="105000"/>
              </a:lnSpc>
              <a:buNone/>
            </a:pPr>
            <a:r>
              <a:rPr lang="en-US" sz="1575" b="1" dirty="0">
                <a:solidFill>
                  <a:schemeClr val="tx1"/>
                </a:solidFill>
              </a:rPr>
              <a:t>Reply</a:t>
            </a:r>
            <a:endParaRPr lang="en-US" sz="1575" dirty="0"/>
          </a:p>
          <a:p>
            <a:pPr indent="0" marL="0">
              <a:lnSpc>
                <a:spcPct val="105000"/>
              </a:lnSpc>
              <a:spcBef>
                <a:spcPts val="300"/>
              </a:spcBef>
              <a:buNone/>
            </a:pPr>
            <a:r>
              <a:rPr lang="en-US" sz="1238" dirty="0">
                <a:solidFill>
                  <a:schemeClr val="tx2"/>
                </a:solidFill>
              </a:rPr>
              <a:t>an answer or a refusal code</a:t>
            </a:r>
            <a:endParaRPr lang="en-US" sz="1575" dirty="0"/>
          </a:p>
        </p:txBody>
      </p:sp>
      <p:sp>
        <p:nvSpPr>
          <p:cNvPr id="27" name="Shape 25"/>
          <p:cNvSpPr/>
          <p:nvPr/>
        </p:nvSpPr>
        <p:spPr>
          <a:xfrm>
            <a:off x="6115050" y="5457825"/>
            <a:ext cx="285750" cy="0"/>
          </a:xfrm>
          <a:prstGeom prst="line">
            <a:avLst/>
          </a:prstGeom>
          <a:noFill/>
          <a:ln w="19050">
            <a:solidFill>
              <a:schemeClr val="tx1"/>
            </a:solidFill>
            <a:prstDash val="solid"/>
            <a:tailEnd type="triangle"/>
          </a:ln>
        </p:spPr>
      </p:sp>
      <p:sp>
        <p:nvSpPr>
          <p:cNvPr id="28" name="Shape 26"/>
          <p:cNvSpPr/>
          <p:nvPr/>
        </p:nvSpPr>
        <p:spPr>
          <a:xfrm>
            <a:off x="6429375" y="4876800"/>
            <a:ext cx="2514600" cy="1181100"/>
          </a:xfrm>
          <a:prstGeom prst="roundRect">
            <a:avLst>
              <a:gd name="adj" fmla="val 5419"/>
            </a:avLst>
          </a:prstGeom>
          <a:solidFill>
            <a:srgbClr val="FBF1E9"/>
          </a:solidFill>
          <a:ln w="17145">
            <a:solidFill>
              <a:schemeClr val="accent1"/>
            </a:solidFill>
            <a:prstDash val="solid"/>
          </a:ln>
        </p:spPr>
      </p:sp>
      <p:sp>
        <p:nvSpPr>
          <p:cNvPr id="29" name="Text 27"/>
          <p:cNvSpPr txBox="1"/>
          <p:nvPr/>
        </p:nvSpPr>
        <p:spPr>
          <a:xfrm>
            <a:off x="6562725" y="4972050"/>
            <a:ext cx="2247900" cy="990600"/>
          </a:xfrm>
          <a:prstGeom prst="rect">
            <a:avLst/>
          </a:prstGeom>
          <a:noFill/>
          <a:ln/>
        </p:spPr>
        <p:txBody>
          <a:bodyPr wrap="square" lIns="0" tIns="0" rIns="0" bIns="0" rtlCol="0" anchor="ctr"/>
          <a:lstStyle/>
          <a:p>
            <a:pPr indent="0" marL="0">
              <a:lnSpc>
                <a:spcPct val="105000"/>
              </a:lnSpc>
              <a:buNone/>
            </a:pPr>
            <a:r>
              <a:rPr lang="en-US" sz="1575" b="1" dirty="0">
                <a:solidFill>
                  <a:schemeClr val="tx1"/>
                </a:solidFill>
              </a:rPr>
              <a:t>Judge LLM</a:t>
            </a:r>
            <a:endParaRPr lang="en-US" sz="1575" dirty="0"/>
          </a:p>
          <a:p>
            <a:pPr indent="0" marL="0">
              <a:lnSpc>
                <a:spcPct val="105000"/>
              </a:lnSpc>
              <a:spcBef>
                <a:spcPts val="300"/>
              </a:spcBef>
              <a:buNone/>
            </a:pPr>
            <a:r>
              <a:rPr lang="en-US" sz="1238" dirty="0">
                <a:solidFill>
                  <a:schemeClr val="tx2"/>
                </a:solidFill>
              </a:rPr>
              <a:t>Claude-4-Sonnet in the paper</a:t>
            </a:r>
            <a:endParaRPr lang="en-US" sz="1575" dirty="0"/>
          </a:p>
        </p:txBody>
      </p:sp>
      <p:sp>
        <p:nvSpPr>
          <p:cNvPr id="30" name="Shape 28"/>
          <p:cNvSpPr/>
          <p:nvPr/>
        </p:nvSpPr>
        <p:spPr>
          <a:xfrm>
            <a:off x="8982075" y="5457825"/>
            <a:ext cx="285750" cy="0"/>
          </a:xfrm>
          <a:prstGeom prst="line">
            <a:avLst/>
          </a:prstGeom>
          <a:noFill/>
          <a:ln w="19050">
            <a:solidFill>
              <a:schemeClr val="tx1"/>
            </a:solidFill>
            <a:prstDash val="solid"/>
            <a:tailEnd type="triangle"/>
          </a:ln>
        </p:spPr>
      </p:sp>
      <p:sp>
        <p:nvSpPr>
          <p:cNvPr id="31" name="Shape 29"/>
          <p:cNvSpPr/>
          <p:nvPr/>
        </p:nvSpPr>
        <p:spPr>
          <a:xfrm>
            <a:off x="9305925" y="4533900"/>
            <a:ext cx="2209800" cy="685800"/>
          </a:xfrm>
          <a:prstGeom prst="roundRect">
            <a:avLst>
              <a:gd name="adj" fmla="val 9333"/>
            </a:avLst>
          </a:prstGeom>
          <a:solidFill>
            <a:schemeClr val="bg1"/>
          </a:solidFill>
          <a:ln w="17145">
            <a:solidFill>
              <a:schemeClr val="tx1"/>
            </a:solidFill>
            <a:prstDash val="solid"/>
          </a:ln>
        </p:spPr>
      </p:sp>
      <p:sp>
        <p:nvSpPr>
          <p:cNvPr id="32" name="Text 30"/>
          <p:cNvSpPr txBox="1"/>
          <p:nvPr/>
        </p:nvSpPr>
        <p:spPr>
          <a:xfrm>
            <a:off x="9439275" y="4629150"/>
            <a:ext cx="1943100" cy="495300"/>
          </a:xfrm>
          <a:prstGeom prst="rect">
            <a:avLst/>
          </a:prstGeom>
          <a:noFill/>
          <a:ln/>
        </p:spPr>
        <p:txBody>
          <a:bodyPr wrap="square" lIns="0" tIns="0" rIns="0" bIns="0" rtlCol="0" anchor="ctr"/>
          <a:lstStyle/>
          <a:p>
            <a:pPr indent="0" marL="0">
              <a:lnSpc>
                <a:spcPct val="105000"/>
              </a:lnSpc>
              <a:buNone/>
            </a:pPr>
            <a:r>
              <a:rPr lang="en-US" sz="1500" b="1" dirty="0">
                <a:solidFill>
                  <a:schemeClr val="tx1"/>
                </a:solidFill>
              </a:rPr>
              <a:t>Answer</a:t>
            </a:r>
            <a:r>
              <a:rPr lang="en-US" sz="1500" dirty="0">
                <a:solidFill>
                  <a:schemeClr val="tx1"/>
                </a:solidFill>
              </a:rPr>
              <a:t>: score 1 to 5</a:t>
            </a:r>
            <a:endParaRPr lang="en-US" sz="1500" dirty="0"/>
          </a:p>
          <a:p>
            <a:pPr indent="0" marL="0">
              <a:lnSpc>
                <a:spcPct val="105000"/>
              </a:lnSpc>
              <a:spcBef>
                <a:spcPts val="300"/>
              </a:spcBef>
              <a:buNone/>
            </a:pPr>
            <a:r>
              <a:rPr lang="en-US" sz="1238" dirty="0">
                <a:solidFill>
                  <a:schemeClr val="tx2"/>
                </a:solidFill>
              </a:rPr>
              <a:t>4 or 5 is correct</a:t>
            </a:r>
            <a:endParaRPr lang="en-US" sz="1500" dirty="0"/>
          </a:p>
        </p:txBody>
      </p:sp>
      <p:sp>
        <p:nvSpPr>
          <p:cNvPr id="33" name="Shape 31"/>
          <p:cNvSpPr/>
          <p:nvPr/>
        </p:nvSpPr>
        <p:spPr>
          <a:xfrm>
            <a:off x="9305925" y="5286375"/>
            <a:ext cx="2209800" cy="1114425"/>
          </a:xfrm>
          <a:prstGeom prst="roundRect">
            <a:avLst>
              <a:gd name="adj" fmla="val 5744"/>
            </a:avLst>
          </a:prstGeom>
          <a:solidFill>
            <a:schemeClr val="bg1"/>
          </a:solidFill>
          <a:ln w="17145">
            <a:solidFill>
              <a:schemeClr val="tx1"/>
            </a:solidFill>
            <a:prstDash val="solid"/>
          </a:ln>
        </p:spPr>
      </p:sp>
      <p:sp>
        <p:nvSpPr>
          <p:cNvPr id="34" name="Text 32"/>
          <p:cNvSpPr txBox="1"/>
          <p:nvPr/>
        </p:nvSpPr>
        <p:spPr>
          <a:xfrm>
            <a:off x="9439275" y="5381625"/>
            <a:ext cx="1943100" cy="923925"/>
          </a:xfrm>
          <a:prstGeom prst="rect">
            <a:avLst/>
          </a:prstGeom>
          <a:noFill/>
          <a:ln/>
        </p:spPr>
        <p:txBody>
          <a:bodyPr wrap="square" lIns="0" tIns="0" rIns="0" bIns="0" rtlCol="0" anchor="ctr"/>
          <a:lstStyle/>
          <a:p>
            <a:pPr indent="0" marL="0">
              <a:lnSpc>
                <a:spcPct val="105000"/>
              </a:lnSpc>
              <a:buNone/>
            </a:pPr>
            <a:r>
              <a:rPr lang="en-US" sz="1500" b="1" dirty="0">
                <a:solidFill>
                  <a:schemeClr val="tx1"/>
                </a:solidFill>
              </a:rPr>
              <a:t>Refusal</a:t>
            </a:r>
            <a:r>
              <a:rPr lang="en-US" sz="1500" dirty="0">
                <a:solidFill>
                  <a:schemeClr val="tx1"/>
                </a:solidFill>
              </a:rPr>
              <a:t>: code compared</a:t>
            </a:r>
            <a:endParaRPr lang="en-US" sz="1500" dirty="0"/>
          </a:p>
          <a:p>
            <a:pPr indent="0" marL="0">
              <a:lnSpc>
                <a:spcPct val="105000"/>
              </a:lnSpc>
              <a:spcBef>
                <a:spcPts val="300"/>
              </a:spcBef>
              <a:buNone/>
            </a:pPr>
            <a:r>
              <a:rPr lang="en-US" sz="1238" dirty="0">
                <a:solidFill>
                  <a:schemeClr val="tx2"/>
                </a:solidFill>
              </a:rPr>
              <a:t>same as expected is correct</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body" hasCustomPrompt="1"/>
          </p:nvPr>
        </p:nvSpPr>
        <p:spPr>
          <a:xfrm>
            <a:off x="685800" y="390525"/>
            <a:ext cx="8572500" cy="190500"/>
          </a:xfrm>
          <a:prstGeom prst="rect">
            <a:avLst/>
          </a:prstGeom>
          <a:noFill/>
          <a:ln/>
        </p:spPr>
        <p:txBody>
          <a:bodyPr wrap="square" lIns="0" tIns="0" rIns="0" bIns="0" rtlCol="0" anchor="t"/>
          <a:lstStyle/>
          <a:p>
            <a:pPr indent="0" marL="0">
              <a:buNone/>
            </a:pPr>
            <a:r>
              <a:rPr lang="en-US" sz="1125" b="1" spc="140" kern="0" dirty="0">
                <a:solidFill>
                  <a:schemeClr val="accent1"/>
                </a:solidFill>
              </a:rPr>
              <a:t>THE PAPER · RESULTS, AND OUR REPRODUCTION</a:t>
            </a:r>
            <a:endParaRPr lang="en-US" sz="1125" dirty="0"/>
          </a:p>
        </p:txBody>
      </p:sp>
      <p:sp>
        <p:nvSpPr>
          <p:cNvPr id="3" name="Text 1"/>
          <p:cNvSpPr/>
          <p:nvPr>
            <p:ph idx="102" type="title" hasCustomPrompt="1"/>
          </p:nvPr>
        </p:nvSpPr>
        <p:spPr>
          <a:xfrm>
            <a:off x="685800" y="647700"/>
            <a:ext cx="10820400" cy="838200"/>
          </a:xfrm>
          <a:prstGeom prst="rect">
            <a:avLst/>
          </a:prstGeom>
          <a:noFill/>
          <a:ln/>
        </p:spPr>
        <p:txBody>
          <a:bodyPr wrap="square" lIns="0" tIns="0" rIns="0" bIns="0" rtlCol="0" anchor="t"/>
          <a:lstStyle/>
          <a:p>
            <a:pPr algn="l" indent="0" marL="0">
              <a:buNone/>
            </a:pPr>
            <a:r>
              <a:rPr lang="en-US" sz="2700" b="1" dirty="0">
                <a:solidFill>
                  <a:schemeClr val="tx1"/>
                </a:solidFill>
                <a:latin typeface="Cambria" pitchFamily="34" charset="0"/>
                <a:ea typeface="Cambria" pitchFamily="34" charset="-122"/>
                <a:cs typeface="Cambria" pitchFamily="34" charset="-120"/>
              </a:rPr>
              <a:t>Best models are far from reliable; small ones rarely say why</a:t>
            </a:r>
            <a:endParaRPr lang="en-US" sz="2700" dirty="0"/>
          </a:p>
        </p:txBody>
      </p:sp>
      <p:sp>
        <p:nvSpPr>
          <p:cNvPr id="4" name="part indicator"/>
          <p:cNvSpPr txBox="1"/>
          <p:nvPr/>
        </p:nvSpPr>
        <p:spPr>
          <a:xfrm>
            <a:off x="9382125" y="190500"/>
            <a:ext cx="2428875" cy="190500"/>
          </a:xfrm>
          <a:prstGeom prst="rect">
            <a:avLst/>
          </a:prstGeom>
          <a:noFill/>
          <a:ln/>
        </p:spPr>
        <p:txBody>
          <a:bodyPr wrap="square" lIns="0" tIns="0" rIns="0" bIns="0" rtlCol="0" anchor="t"/>
          <a:lstStyle/>
          <a:p>
            <a:pPr algn="r" indent="0" marL="0">
              <a:buNone/>
            </a:pPr>
            <a:r>
              <a:rPr lang="en-US" sz="975" b="1" u="sng" dirty="0">
                <a:solidFill>
                  <a:schemeClr val="tx1"/>
                </a:solidFill>
                <a:uFill>
                  <a:solidFill>
                    <a:srgbClr val="B5541A"/>
                  </a:solidFill>
                </a:uFill>
              </a:rPr>
              <a:t>The paper</a:t>
            </a:r>
            <a:r>
              <a:rPr lang="en-US" sz="975" dirty="0">
                <a:solidFill>
                  <a:schemeClr val="tx2"/>
                </a:solidFill>
              </a:rPr>
              <a:t>     </a:t>
            </a:r>
            <a:r>
              <a:rPr lang="en-US" sz="975" dirty="0">
                <a:solidFill>
                  <a:schemeClr val="tx2"/>
                </a:solidFill>
              </a:rPr>
              <a:t>Extension 1</a:t>
            </a:r>
            <a:r>
              <a:rPr lang="en-US" sz="975" dirty="0">
                <a:solidFill>
                  <a:schemeClr val="tx2"/>
                </a:solidFill>
              </a:rPr>
              <a:t>     </a:t>
            </a:r>
            <a:r>
              <a:rPr lang="en-US" sz="975" dirty="0">
                <a:solidFill>
                  <a:schemeClr val="tx2"/>
                </a:solidFill>
              </a:rPr>
              <a:t>Extension 2</a:t>
            </a:r>
            <a:endParaRPr lang="en-US" sz="975" dirty="0"/>
          </a:p>
        </p:txBody>
      </p:sp>
      <p:sp>
        <p:nvSpPr>
          <p:cNvPr id="5" name="Text 3"/>
          <p:cNvSpPr txBox="1"/>
          <p:nvPr/>
        </p:nvSpPr>
        <p:spPr>
          <a:xfrm>
            <a:off x="685800" y="1200150"/>
            <a:ext cx="5019675" cy="171450"/>
          </a:xfrm>
          <a:prstGeom prst="rect">
            <a:avLst/>
          </a:prstGeom>
          <a:noFill/>
          <a:ln/>
        </p:spPr>
        <p:txBody>
          <a:bodyPr wrap="square" lIns="0" tIns="0" rIns="0" bIns="0" rtlCol="0" anchor="t"/>
          <a:lstStyle/>
          <a:p>
            <a:pPr indent="0" marL="0">
              <a:buNone/>
            </a:pPr>
            <a:r>
              <a:rPr lang="en-US" sz="975" b="1" spc="120" kern="0" dirty="0">
                <a:solidFill>
                  <a:schemeClr val="tx2"/>
                </a:solidFill>
              </a:rPr>
              <a:t>THE PAPER · 30+ MODELS</a:t>
            </a:r>
            <a:endParaRPr lang="en-US" sz="975" dirty="0"/>
          </a:p>
        </p:txBody>
      </p:sp>
      <p:sp>
        <p:nvSpPr>
          <p:cNvPr id="6" name="Shape 4"/>
          <p:cNvSpPr/>
          <p:nvPr/>
        </p:nvSpPr>
        <p:spPr>
          <a:xfrm>
            <a:off x="685800" y="1571625"/>
            <a:ext cx="38100" cy="838200"/>
          </a:xfrm>
          <a:prstGeom prst="rect">
            <a:avLst/>
          </a:prstGeom>
          <a:solidFill>
            <a:schemeClr val="accent1"/>
          </a:solidFill>
          <a:ln/>
        </p:spPr>
      </p:sp>
      <p:sp>
        <p:nvSpPr>
          <p:cNvPr id="7" name="Text 5"/>
          <p:cNvSpPr txBox="1"/>
          <p:nvPr/>
        </p:nvSpPr>
        <p:spPr>
          <a:xfrm>
            <a:off x="857250" y="1571625"/>
            <a:ext cx="4848225" cy="838200"/>
          </a:xfrm>
          <a:prstGeom prst="rect">
            <a:avLst/>
          </a:prstGeom>
          <a:noFill/>
          <a:ln/>
        </p:spPr>
        <p:txBody>
          <a:bodyPr wrap="square" lIns="0" tIns="0" rIns="0" bIns="0" rtlCol="0" anchor="t"/>
          <a:lstStyle/>
          <a:p>
            <a:pPr indent="0" marL="0">
              <a:lnSpc>
                <a:spcPct val="100000"/>
              </a:lnSpc>
              <a:buNone/>
            </a:pPr>
            <a:r>
              <a:rPr lang="en-US" sz="2700" b="1" dirty="0">
                <a:solidFill>
                  <a:schemeClr val="tx1"/>
                </a:solidFill>
                <a:latin typeface="+mj-lt" pitchFamily="34" charset="0"/>
                <a:ea typeface="+mj-lt" pitchFamily="34" charset="-122"/>
                <a:cs typeface="+mj-lt" pitchFamily="34" charset="-120"/>
              </a:rPr>
              <a:t>73.0%</a:t>
            </a:r>
            <a:endParaRPr lang="en-US" sz="2700" dirty="0"/>
          </a:p>
          <a:p>
            <a:pPr indent="0" marL="0">
              <a:lnSpc>
                <a:spcPct val="100000"/>
              </a:lnSpc>
              <a:buNone/>
            </a:pPr>
            <a:r>
              <a:rPr lang="en-US" sz="1275" dirty="0">
                <a:solidFill>
                  <a:schemeClr val="tx2"/>
                </a:solidFill>
              </a:rPr>
              <a:t>best refusal accuracy on this test set (Claude-4-Sonnet); 47.4% on the multi-document set</a:t>
            </a:r>
            <a:endParaRPr lang="en-US" sz="2700" dirty="0"/>
          </a:p>
        </p:txBody>
      </p:sp>
      <p:sp>
        <p:nvSpPr>
          <p:cNvPr id="8" name="Shape 6"/>
          <p:cNvSpPr/>
          <p:nvPr/>
        </p:nvSpPr>
        <p:spPr>
          <a:xfrm>
            <a:off x="685800" y="2562225"/>
            <a:ext cx="38100" cy="628650"/>
          </a:xfrm>
          <a:prstGeom prst="rect">
            <a:avLst/>
          </a:prstGeom>
          <a:solidFill>
            <a:schemeClr val="accent1"/>
          </a:solidFill>
          <a:ln/>
        </p:spPr>
      </p:sp>
      <p:sp>
        <p:nvSpPr>
          <p:cNvPr id="9" name="Text 7"/>
          <p:cNvSpPr txBox="1"/>
          <p:nvPr/>
        </p:nvSpPr>
        <p:spPr>
          <a:xfrm>
            <a:off x="857250" y="2562225"/>
            <a:ext cx="4848225" cy="628650"/>
          </a:xfrm>
          <a:prstGeom prst="rect">
            <a:avLst/>
          </a:prstGeom>
          <a:noFill/>
          <a:ln/>
        </p:spPr>
        <p:txBody>
          <a:bodyPr wrap="square" lIns="0" tIns="0" rIns="0" bIns="0" rtlCol="0" anchor="t"/>
          <a:lstStyle/>
          <a:p>
            <a:pPr indent="0" marL="0">
              <a:lnSpc>
                <a:spcPct val="100000"/>
              </a:lnSpc>
              <a:buNone/>
            </a:pPr>
            <a:r>
              <a:rPr lang="en-US" sz="2700" b="1" dirty="0">
                <a:solidFill>
                  <a:schemeClr val="tx1"/>
                </a:solidFill>
                <a:latin typeface="+mj-lt" pitchFamily="34" charset="0"/>
                <a:ea typeface="+mj-lt" pitchFamily="34" charset="-122"/>
                <a:cs typeface="+mj-lt" pitchFamily="34" charset="-120"/>
              </a:rPr>
              <a:t>None</a:t>
            </a:r>
            <a:endParaRPr lang="en-US" sz="2700" dirty="0"/>
          </a:p>
          <a:p>
            <a:pPr indent="0" marL="0">
              <a:lnSpc>
                <a:spcPct val="100000"/>
              </a:lnSpc>
              <a:buNone/>
            </a:pPr>
            <a:r>
              <a:rPr lang="en-US" sz="1275" dirty="0">
                <a:solidFill>
                  <a:schemeClr val="tx2"/>
                </a:solidFill>
              </a:rPr>
              <a:t>of the models reaches 80% on both answering and refusing</a:t>
            </a:r>
            <a:endParaRPr lang="en-US" sz="2700" dirty="0"/>
          </a:p>
        </p:txBody>
      </p:sp>
      <p:sp>
        <p:nvSpPr>
          <p:cNvPr id="10" name="Text 8"/>
          <p:cNvSpPr txBox="1"/>
          <p:nvPr/>
        </p:nvSpPr>
        <p:spPr>
          <a:xfrm>
            <a:off x="685800" y="3381375"/>
            <a:ext cx="5019675" cy="1104900"/>
          </a:xfrm>
          <a:prstGeom prst="rect">
            <a:avLst/>
          </a:prstGeom>
          <a:noFill/>
          <a:ln/>
        </p:spPr>
        <p:txBody>
          <a:bodyPr wrap="square" lIns="0" tIns="0" rIns="0" bIns="0" rtlCol="0" anchor="t"/>
          <a:lstStyle/>
          <a:p>
            <a:pPr marL="177800" indent="-177800">
              <a:spcAft>
                <a:spcPts val="600"/>
              </a:spcAft>
              <a:buSzPct val="100000"/>
              <a:buChar char="•"/>
            </a:pPr>
            <a:r>
              <a:rPr lang="en-US" sz="1350" b="1" dirty="0">
                <a:solidFill>
                  <a:schemeClr val="tx1"/>
                </a:solidFill>
              </a:rPr>
              <a:t>Detecting</a:t>
            </a:r>
            <a:r>
              <a:rPr lang="en-US" sz="1350" dirty="0">
                <a:solidFill>
                  <a:schemeClr val="tx1"/>
                </a:solidFill>
              </a:rPr>
              <a:t> that a refusal is needed is easier than saying </a:t>
            </a:r>
            <a:r>
              <a:rPr lang="en-US" sz="1350" b="1" dirty="0">
                <a:solidFill>
                  <a:schemeClr val="tx1"/>
                </a:solidFill>
              </a:rPr>
              <a:t>why</a:t>
            </a:r>
            <a:r>
              <a:rPr lang="en-US" sz="1350" dirty="0">
                <a:solidFill>
                  <a:schemeClr val="tx1"/>
                </a:solidFill>
              </a:rPr>
              <a:t>.</a:t>
            </a:r>
            <a:endParaRPr lang="en-US" sz="1350" dirty="0"/>
          </a:p>
          <a:p>
            <a:pPr marL="177800" indent="-177800">
              <a:spcAft>
                <a:spcPts val="600"/>
              </a:spcAft>
              <a:buSzPct val="100000"/>
              <a:buChar char="•"/>
            </a:pPr>
            <a:r>
              <a:rPr lang="en-US" sz="1350" dirty="0">
                <a:solidFill>
                  <a:schemeClr val="tx1"/>
                </a:solidFill>
              </a:rPr>
              <a:t>Qwen: refusal accuracy below 17% at every size. </a:t>
            </a:r>
            <a:r>
              <a:rPr lang="en-US" sz="1350" b="1" dirty="0">
                <a:solidFill>
                  <a:schemeClr val="tx1"/>
                </a:solidFill>
              </a:rPr>
              <a:t>Qwen1.5-7B-Chat: about 5%.</a:t>
            </a:r>
            <a:r>
              <a:rPr lang="en-US" sz="1350" dirty="0">
                <a:solidFill>
                  <a:schemeClr val="tx1"/>
                </a:solidFill>
              </a:rPr>
              <a:t> The paper's only remedy is training.</a:t>
            </a:r>
            <a:endParaRPr lang="en-US" sz="1350" dirty="0"/>
          </a:p>
        </p:txBody>
      </p:sp>
      <p:sp>
        <p:nvSpPr>
          <p:cNvPr id="11" name="Text 9"/>
          <p:cNvSpPr txBox="1"/>
          <p:nvPr/>
        </p:nvSpPr>
        <p:spPr>
          <a:xfrm>
            <a:off x="6086475" y="1200150"/>
            <a:ext cx="5419725" cy="171450"/>
          </a:xfrm>
          <a:prstGeom prst="rect">
            <a:avLst/>
          </a:prstGeom>
          <a:noFill/>
          <a:ln/>
        </p:spPr>
        <p:txBody>
          <a:bodyPr wrap="square" lIns="0" tIns="0" rIns="0" bIns="0" rtlCol="0" anchor="t"/>
          <a:lstStyle/>
          <a:p>
            <a:pPr indent="0" marL="0">
              <a:buNone/>
            </a:pPr>
            <a:r>
              <a:rPr lang="en-US" sz="975" b="1" spc="120" kern="0" dirty="0">
                <a:solidFill>
                  <a:schemeClr val="tx2"/>
                </a:solidFill>
              </a:rPr>
              <a:t>OUR REPRODUCTION · QWEN1.5-7B-CHAT · T4 · 4-BIT · GEMINI JUDGE</a:t>
            </a:r>
            <a:endParaRPr lang="en-US" sz="975" dirty="0"/>
          </a:p>
        </p:txBody>
      </p:sp>
      <p:graphicFrame>
        <p:nvGraphicFramePr>
          <p:cNvPr id="12" name="chart: paper vs ours" descr=""/>
          <p:cNvGraphicFramePr/>
          <p:nvPr/>
        </p:nvGraphicFramePr>
        <p:xfrm>
          <a:off x="6086475" y="1428750"/>
          <a:ext cx="5419725" cy="2857500"/>
        </p:xfrm>
        <a:graphic xmlns:a="http://schemas.openxmlformats.org/drawingml/2006/main">
          <a:graphicData uri="http://schemas.openxmlformats.org/drawingml/2006/chart">
            <c:chart xmlns:c="http://schemas.openxmlformats.org/drawingml/2006/chart" r:id="rId1"/>
          </a:graphicData>
        </a:graphic>
      </p:graphicFrame>
      <p:sp>
        <p:nvSpPr>
          <p:cNvPr id="13" name="Shape 10"/>
          <p:cNvSpPr/>
          <p:nvPr/>
        </p:nvSpPr>
        <p:spPr>
          <a:xfrm>
            <a:off x="6086475" y="4581525"/>
            <a:ext cx="38100" cy="838200"/>
          </a:xfrm>
          <a:prstGeom prst="rect">
            <a:avLst/>
          </a:prstGeom>
          <a:solidFill>
            <a:schemeClr val="accent1"/>
          </a:solidFill>
          <a:ln/>
        </p:spPr>
      </p:sp>
      <p:sp>
        <p:nvSpPr>
          <p:cNvPr id="14" name="Text 11"/>
          <p:cNvSpPr txBox="1"/>
          <p:nvPr/>
        </p:nvSpPr>
        <p:spPr>
          <a:xfrm>
            <a:off x="6257925" y="4581525"/>
            <a:ext cx="2609850" cy="838200"/>
          </a:xfrm>
          <a:prstGeom prst="rect">
            <a:avLst/>
          </a:prstGeom>
          <a:noFill/>
          <a:ln/>
        </p:spPr>
        <p:txBody>
          <a:bodyPr wrap="square" lIns="0" tIns="0" rIns="0" bIns="0" rtlCol="0" anchor="t"/>
          <a:lstStyle/>
          <a:p>
            <a:pPr indent="0" marL="0">
              <a:lnSpc>
                <a:spcPct val="100000"/>
              </a:lnSpc>
              <a:buNone/>
            </a:pPr>
            <a:r>
              <a:rPr lang="en-US" sz="2700" b="1" dirty="0">
                <a:solidFill>
                  <a:schemeClr val="tx1"/>
                </a:solidFill>
                <a:latin typeface="+mj-lt" pitchFamily="34" charset="0"/>
                <a:ea typeface="+mj-lt" pitchFamily="34" charset="-122"/>
                <a:cs typeface="+mj-lt" pitchFamily="34" charset="-120"/>
              </a:rPr>
              <a:t>0.456</a:t>
            </a:r>
            <a:endParaRPr lang="en-US" sz="2700" dirty="0"/>
          </a:p>
          <a:p>
            <a:pPr indent="0" marL="0">
              <a:lnSpc>
                <a:spcPct val="100000"/>
              </a:lnSpc>
              <a:buNone/>
            </a:pPr>
            <a:r>
              <a:rPr lang="en-US" sz="1275" dirty="0">
                <a:solidFill>
                  <a:schemeClr val="tx2"/>
                </a:solidFill>
              </a:rPr>
              <a:t>missed refusal: had to refuse, answered</a:t>
            </a:r>
            <a:endParaRPr lang="en-US" sz="2700" dirty="0"/>
          </a:p>
        </p:txBody>
      </p:sp>
      <p:sp>
        <p:nvSpPr>
          <p:cNvPr id="15" name="Shape 12"/>
          <p:cNvSpPr/>
          <p:nvPr/>
        </p:nvSpPr>
        <p:spPr>
          <a:xfrm>
            <a:off x="9134475" y="4581525"/>
            <a:ext cx="38100" cy="838200"/>
          </a:xfrm>
          <a:prstGeom prst="rect">
            <a:avLst/>
          </a:prstGeom>
          <a:solidFill>
            <a:schemeClr val="accent1"/>
          </a:solidFill>
          <a:ln/>
        </p:spPr>
      </p:sp>
      <p:sp>
        <p:nvSpPr>
          <p:cNvPr id="16" name="Text 13"/>
          <p:cNvSpPr txBox="1"/>
          <p:nvPr/>
        </p:nvSpPr>
        <p:spPr>
          <a:xfrm>
            <a:off x="9305925" y="4581525"/>
            <a:ext cx="2200275" cy="838200"/>
          </a:xfrm>
          <a:prstGeom prst="rect">
            <a:avLst/>
          </a:prstGeom>
          <a:noFill/>
          <a:ln/>
        </p:spPr>
        <p:txBody>
          <a:bodyPr wrap="square" lIns="0" tIns="0" rIns="0" bIns="0" rtlCol="0" anchor="t"/>
          <a:lstStyle/>
          <a:p>
            <a:pPr indent="0" marL="0">
              <a:lnSpc>
                <a:spcPct val="100000"/>
              </a:lnSpc>
              <a:buNone/>
            </a:pPr>
            <a:r>
              <a:rPr lang="en-US" sz="2700" b="1" dirty="0">
                <a:solidFill>
                  <a:schemeClr val="tx1"/>
                </a:solidFill>
                <a:latin typeface="+mj-lt" pitchFamily="34" charset="0"/>
                <a:ea typeface="+mj-lt" pitchFamily="34" charset="-122"/>
                <a:cs typeface="+mj-lt" pitchFamily="34" charset="-120"/>
              </a:rPr>
              <a:t>0.165</a:t>
            </a:r>
            <a:endParaRPr lang="en-US" sz="2700" dirty="0"/>
          </a:p>
          <a:p>
            <a:pPr indent="0" marL="0">
              <a:lnSpc>
                <a:spcPct val="100000"/>
              </a:lnSpc>
              <a:buNone/>
            </a:pPr>
            <a:r>
              <a:rPr lang="en-US" sz="1275" dirty="0">
                <a:solidFill>
                  <a:schemeClr val="tx2"/>
                </a:solidFill>
              </a:rPr>
              <a:t>false refusal: answerable, refused</a:t>
            </a:r>
            <a:endParaRPr lang="en-US" sz="2700" dirty="0"/>
          </a:p>
        </p:txBody>
      </p:sp>
      <p:sp>
        <p:nvSpPr>
          <p:cNvPr id="17" name="Shape 14"/>
          <p:cNvSpPr/>
          <p:nvPr/>
        </p:nvSpPr>
        <p:spPr>
          <a:xfrm>
            <a:off x="685800" y="5648325"/>
            <a:ext cx="10820400" cy="666750"/>
          </a:xfrm>
          <a:prstGeom prst="rect">
            <a:avLst/>
          </a:prstGeom>
          <a:solidFill>
            <a:srgbClr val="FFF6E6"/>
          </a:solidFill>
          <a:ln/>
        </p:spPr>
      </p:sp>
      <p:sp>
        <p:nvSpPr>
          <p:cNvPr id="18" name="Shape 15"/>
          <p:cNvSpPr/>
          <p:nvPr/>
        </p:nvSpPr>
        <p:spPr>
          <a:xfrm>
            <a:off x="685800" y="5648325"/>
            <a:ext cx="38100" cy="666750"/>
          </a:xfrm>
          <a:prstGeom prst="rect">
            <a:avLst/>
          </a:prstGeom>
          <a:solidFill>
            <a:schemeClr val="accent6"/>
          </a:solidFill>
          <a:ln/>
        </p:spPr>
      </p:sp>
      <p:sp>
        <p:nvSpPr>
          <p:cNvPr id="19" name="Text 16"/>
          <p:cNvSpPr txBox="1"/>
          <p:nvPr/>
        </p:nvSpPr>
        <p:spPr>
          <a:xfrm>
            <a:off x="876300" y="5734050"/>
            <a:ext cx="10477500" cy="514350"/>
          </a:xfrm>
          <a:prstGeom prst="rect">
            <a:avLst/>
          </a:prstGeom>
          <a:noFill/>
          <a:ln/>
        </p:spPr>
        <p:txBody>
          <a:bodyPr wrap="square" lIns="0" tIns="0" rIns="0" bIns="0" rtlCol="0" anchor="ctr"/>
          <a:lstStyle/>
          <a:p>
            <a:pPr indent="0" marL="0">
              <a:buNone/>
            </a:pPr>
            <a:r>
              <a:rPr lang="en-US" sz="1350" b="1" dirty="0">
                <a:solidFill>
                  <a:schemeClr val="tx1"/>
                </a:solidFill>
              </a:rPr>
              <a:t>The paper's pattern reproduces, not its exact numbers.</a:t>
            </a:r>
            <a:r>
              <a:rPr lang="en-US" sz="1350" dirty="0">
                <a:solidFill>
                  <a:schemeClr val="tx1"/>
                </a:solidFill>
              </a:rPr>
              <a:t> 770 of 1,560 replies graded so far (free judge quota); judge, precision and software differ, so the numbers are not directly comparable. Most missed: ambiguity (0.74), contradiction (0.71).</a:t>
            </a:r>
            <a:endParaRPr lang="en-US" sz="1350" dirty="0"/>
          </a:p>
        </p:txBody>
      </p:sp>
      <p:sp>
        <p:nvSpPr>
          <p:cNvPr id="20" name="Text 17"/>
          <p:cNvSpPr txBox="1"/>
          <p:nvPr/>
        </p:nvSpPr>
        <p:spPr>
          <a:xfrm>
            <a:off x="6086475" y="4333875"/>
            <a:ext cx="5419725" cy="171450"/>
          </a:xfrm>
          <a:prstGeom prst="rect">
            <a:avLst/>
          </a:prstGeom>
          <a:noFill/>
          <a:ln/>
        </p:spPr>
        <p:txBody>
          <a:bodyPr wrap="square" lIns="0" tIns="0" rIns="0" bIns="0" rtlCol="0" anchor="t"/>
          <a:lstStyle/>
          <a:p>
            <a:pPr indent="0" marL="0">
              <a:buNone/>
            </a:pPr>
            <a:r>
              <a:rPr lang="en-US" sz="900" i="1" dirty="0">
                <a:solidFill>
                  <a:schemeClr val="tx2"/>
                </a:solidFill>
              </a:rPr>
              <a:t>Paper's refusal accuracy ≈ 0.05, read from a small plot.</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body" hasCustomPrompt="1"/>
          </p:nvPr>
        </p:nvSpPr>
        <p:spPr>
          <a:xfrm>
            <a:off x="685800" y="390525"/>
            <a:ext cx="8572500" cy="190500"/>
          </a:xfrm>
          <a:prstGeom prst="rect">
            <a:avLst/>
          </a:prstGeom>
          <a:noFill/>
          <a:ln/>
        </p:spPr>
        <p:txBody>
          <a:bodyPr wrap="square" lIns="0" tIns="0" rIns="0" bIns="0" rtlCol="0" anchor="t"/>
          <a:lstStyle/>
          <a:p>
            <a:pPr indent="0" marL="0">
              <a:buNone/>
            </a:pPr>
            <a:r>
              <a:rPr lang="en-US" sz="1125" b="1" spc="140" kern="0" dirty="0">
                <a:solidFill>
                  <a:schemeClr val="accent1"/>
                </a:solidFill>
              </a:rPr>
              <a:t>EXTENSION 1 · IDEA AND RESULT</a:t>
            </a:r>
            <a:endParaRPr lang="en-US" sz="1125" dirty="0"/>
          </a:p>
        </p:txBody>
      </p:sp>
      <p:sp>
        <p:nvSpPr>
          <p:cNvPr id="3" name="Text 1"/>
          <p:cNvSpPr/>
          <p:nvPr>
            <p:ph idx="102" type="title" hasCustomPrompt="1"/>
          </p:nvPr>
        </p:nvSpPr>
        <p:spPr>
          <a:xfrm>
            <a:off x="685800" y="647700"/>
            <a:ext cx="10820400" cy="838200"/>
          </a:xfrm>
          <a:prstGeom prst="rect">
            <a:avLst/>
          </a:prstGeom>
          <a:noFill/>
          <a:ln/>
        </p:spPr>
        <p:txBody>
          <a:bodyPr wrap="square" lIns="0" tIns="0" rIns="0" bIns="0" rtlCol="0" anchor="t"/>
          <a:lstStyle/>
          <a:p>
            <a:pPr algn="l" indent="0" marL="0">
              <a:buNone/>
            </a:pPr>
            <a:r>
              <a:rPr lang="en-US" sz="2700" b="1" dirty="0">
                <a:solidFill>
                  <a:schemeClr val="tx1"/>
                </a:solidFill>
                <a:latin typeface="Cambria" pitchFamily="34" charset="0"/>
                <a:ea typeface="Cambria" pitchFamily="34" charset="-122"/>
                <a:cs typeface="Cambria" pitchFamily="34" charset="-120"/>
              </a:rPr>
              <a:t>Asking the model to diagnose the evidence first failed</a:t>
            </a:r>
            <a:endParaRPr lang="en-US" sz="2700" dirty="0"/>
          </a:p>
        </p:txBody>
      </p:sp>
      <p:sp>
        <p:nvSpPr>
          <p:cNvPr id="4" name="part indicator"/>
          <p:cNvSpPr txBox="1"/>
          <p:nvPr/>
        </p:nvSpPr>
        <p:spPr>
          <a:xfrm>
            <a:off x="9382125" y="190500"/>
            <a:ext cx="2428875" cy="190500"/>
          </a:xfrm>
          <a:prstGeom prst="rect">
            <a:avLst/>
          </a:prstGeom>
          <a:noFill/>
          <a:ln/>
        </p:spPr>
        <p:txBody>
          <a:bodyPr wrap="square" lIns="0" tIns="0" rIns="0" bIns="0" rtlCol="0" anchor="t"/>
          <a:lstStyle/>
          <a:p>
            <a:pPr algn="r" indent="0" marL="0">
              <a:buNone/>
            </a:pPr>
            <a:r>
              <a:rPr lang="en-US" sz="975" dirty="0">
                <a:solidFill>
                  <a:schemeClr val="tx2"/>
                </a:solidFill>
              </a:rPr>
              <a:t>The paper</a:t>
            </a:r>
            <a:r>
              <a:rPr lang="en-US" sz="975" dirty="0">
                <a:solidFill>
                  <a:schemeClr val="tx2"/>
                </a:solidFill>
              </a:rPr>
              <a:t>     </a:t>
            </a:r>
            <a:r>
              <a:rPr lang="en-US" sz="975" b="1" u="sng" dirty="0">
                <a:solidFill>
                  <a:schemeClr val="tx1"/>
                </a:solidFill>
                <a:uFill>
                  <a:solidFill>
                    <a:srgbClr val="B5541A"/>
                  </a:solidFill>
                </a:uFill>
              </a:rPr>
              <a:t>Extension 1</a:t>
            </a:r>
            <a:r>
              <a:rPr lang="en-US" sz="975" dirty="0">
                <a:solidFill>
                  <a:schemeClr val="tx2"/>
                </a:solidFill>
              </a:rPr>
              <a:t>     </a:t>
            </a:r>
            <a:r>
              <a:rPr lang="en-US" sz="975" dirty="0">
                <a:solidFill>
                  <a:schemeClr val="tx2"/>
                </a:solidFill>
              </a:rPr>
              <a:t>Extension 2</a:t>
            </a:r>
            <a:endParaRPr lang="en-US" sz="975" dirty="0"/>
          </a:p>
        </p:txBody>
      </p:sp>
      <p:sp>
        <p:nvSpPr>
          <p:cNvPr id="5" name="Shape 3"/>
          <p:cNvSpPr/>
          <p:nvPr/>
        </p:nvSpPr>
        <p:spPr>
          <a:xfrm>
            <a:off x="685800" y="1219200"/>
            <a:ext cx="4724400" cy="1257300"/>
          </a:xfrm>
          <a:prstGeom prst="roundRect">
            <a:avLst>
              <a:gd name="adj" fmla="val 5091"/>
            </a:avLst>
          </a:prstGeom>
          <a:solidFill>
            <a:srgbClr val="FBF1E9"/>
          </a:solidFill>
          <a:ln w="17145">
            <a:solidFill>
              <a:schemeClr val="accent1"/>
            </a:solidFill>
            <a:prstDash val="dash"/>
          </a:ln>
        </p:spPr>
      </p:sp>
      <p:sp>
        <p:nvSpPr>
          <p:cNvPr id="6" name="Text 4"/>
          <p:cNvSpPr txBox="1"/>
          <p:nvPr/>
        </p:nvSpPr>
        <p:spPr>
          <a:xfrm>
            <a:off x="838200" y="1314450"/>
            <a:ext cx="4438650" cy="1104900"/>
          </a:xfrm>
          <a:prstGeom prst="rect">
            <a:avLst/>
          </a:prstGeom>
          <a:noFill/>
          <a:ln/>
        </p:spPr>
        <p:txBody>
          <a:bodyPr wrap="square" lIns="0" tIns="0" rIns="0" bIns="0" rtlCol="0" anchor="t"/>
          <a:lstStyle/>
          <a:p>
            <a:pPr indent="0" marL="0">
              <a:lnSpc>
                <a:spcPct val="105000"/>
              </a:lnSpc>
              <a:buNone/>
            </a:pPr>
            <a:r>
              <a:rPr lang="en-US" sz="900" b="1" spc="140" kern="0" dirty="0">
                <a:solidFill>
                  <a:schemeClr val="accent1"/>
                </a:solidFill>
              </a:rPr>
              <a:t>HYPOTHESIS</a:t>
            </a:r>
            <a:endParaRPr lang="en-US" sz="900" dirty="0"/>
          </a:p>
          <a:p>
            <a:pPr indent="0" marL="0">
              <a:lnSpc>
                <a:spcPct val="105000"/>
              </a:lnSpc>
              <a:buNone/>
            </a:pPr>
            <a:r>
              <a:rPr lang="en-US" sz="1650" dirty="0">
                <a:solidFill>
                  <a:schemeClr val="tx1"/>
                </a:solidFill>
                <a:latin typeface="+mj-lt" pitchFamily="34" charset="0"/>
                <a:ea typeface="+mj-lt" pitchFamily="34" charset="-122"/>
                <a:cs typeface="+mj-lt" pitchFamily="34" charset="-120"/>
              </a:rPr>
              <a:t>If the model first names what is wrong with the evidence, its decision improves. No training needed.</a:t>
            </a:r>
            <a:endParaRPr lang="en-US" sz="900" dirty="0"/>
          </a:p>
        </p:txBody>
      </p:sp>
      <p:sp>
        <p:nvSpPr>
          <p:cNvPr id="7" name="Shape 5"/>
          <p:cNvSpPr/>
          <p:nvPr/>
        </p:nvSpPr>
        <p:spPr>
          <a:xfrm>
            <a:off x="685800" y="2609850"/>
            <a:ext cx="4724400" cy="828675"/>
          </a:xfrm>
          <a:prstGeom prst="rect">
            <a:avLst/>
          </a:prstGeom>
          <a:solidFill>
            <a:srgbClr val="F5F6F8"/>
          </a:solidFill>
          <a:ln/>
        </p:spPr>
      </p:sp>
      <p:sp>
        <p:nvSpPr>
          <p:cNvPr id="8" name="Shape 6"/>
          <p:cNvSpPr/>
          <p:nvPr/>
        </p:nvSpPr>
        <p:spPr>
          <a:xfrm>
            <a:off x="685800" y="2609850"/>
            <a:ext cx="38100" cy="828675"/>
          </a:xfrm>
          <a:prstGeom prst="rect">
            <a:avLst/>
          </a:prstGeom>
          <a:solidFill>
            <a:schemeClr val="accent5"/>
          </a:solidFill>
          <a:ln/>
        </p:spPr>
      </p:sp>
      <p:sp>
        <p:nvSpPr>
          <p:cNvPr id="9" name="Text 7"/>
          <p:cNvSpPr txBox="1"/>
          <p:nvPr/>
        </p:nvSpPr>
        <p:spPr>
          <a:xfrm>
            <a:off x="838200" y="2695575"/>
            <a:ext cx="4476750" cy="695325"/>
          </a:xfrm>
          <a:prstGeom prst="rect">
            <a:avLst/>
          </a:prstGeom>
          <a:noFill/>
          <a:ln/>
        </p:spPr>
        <p:txBody>
          <a:bodyPr wrap="square" lIns="0" tIns="0" rIns="0" bIns="0" rtlCol="0" anchor="t"/>
          <a:lstStyle/>
          <a:p>
            <a:pPr indent="0" marL="0">
              <a:buNone/>
            </a:pPr>
            <a:r>
              <a:rPr lang="en-US" sz="900" b="1" spc="120" kern="0" dirty="0">
                <a:solidFill>
                  <a:schemeClr val="tx2"/>
                </a:solidFill>
              </a:rPr>
              <a:t>BASELINE</a:t>
            </a:r>
            <a:endParaRPr lang="en-US" sz="1425" dirty="0"/>
          </a:p>
          <a:p>
            <a:pPr indent="0" marL="0">
              <a:buNone/>
            </a:pPr>
            <a:r>
              <a:rPr lang="en-US" sz="1425" dirty="0">
                <a:solidFill>
                  <a:schemeClr val="tx1"/>
                </a:solidFill>
              </a:rPr>
              <a:t>Answer from the passage, or reply with a refusal code.</a:t>
            </a:r>
            <a:endParaRPr lang="en-US" sz="1425" dirty="0"/>
          </a:p>
        </p:txBody>
      </p:sp>
      <p:sp>
        <p:nvSpPr>
          <p:cNvPr id="10" name="Shape 8"/>
          <p:cNvSpPr/>
          <p:nvPr/>
        </p:nvSpPr>
        <p:spPr>
          <a:xfrm>
            <a:off x="685800" y="3581400"/>
            <a:ext cx="4724400" cy="590550"/>
          </a:xfrm>
          <a:prstGeom prst="rect">
            <a:avLst/>
          </a:prstGeom>
          <a:solidFill>
            <a:srgbClr val="F5F6F8"/>
          </a:solidFill>
          <a:ln/>
        </p:spPr>
      </p:sp>
      <p:sp>
        <p:nvSpPr>
          <p:cNvPr id="11" name="Shape 9"/>
          <p:cNvSpPr/>
          <p:nvPr/>
        </p:nvSpPr>
        <p:spPr>
          <a:xfrm>
            <a:off x="685800" y="3581400"/>
            <a:ext cx="38100" cy="590550"/>
          </a:xfrm>
          <a:prstGeom prst="rect">
            <a:avLst/>
          </a:prstGeom>
          <a:solidFill>
            <a:schemeClr val="accent5"/>
          </a:solidFill>
          <a:ln/>
        </p:spPr>
      </p:sp>
      <p:sp>
        <p:nvSpPr>
          <p:cNvPr id="12" name="Text 10"/>
          <p:cNvSpPr txBox="1"/>
          <p:nvPr/>
        </p:nvSpPr>
        <p:spPr>
          <a:xfrm>
            <a:off x="838200" y="3667125"/>
            <a:ext cx="4476750" cy="457200"/>
          </a:xfrm>
          <a:prstGeom prst="rect">
            <a:avLst/>
          </a:prstGeom>
          <a:noFill/>
          <a:ln/>
        </p:spPr>
        <p:txBody>
          <a:bodyPr wrap="square" lIns="0" tIns="0" rIns="0" bIns="0" rtlCol="0" anchor="t"/>
          <a:lstStyle/>
          <a:p>
            <a:pPr indent="0" marL="0">
              <a:buNone/>
            </a:pPr>
            <a:r>
              <a:rPr lang="en-US" sz="900" b="1" spc="120" kern="0" dirty="0">
                <a:solidFill>
                  <a:schemeClr val="tx2"/>
                </a:solidFill>
              </a:rPr>
              <a:t>CONTROL</a:t>
            </a:r>
            <a:endParaRPr lang="en-US" sz="1425" dirty="0"/>
          </a:p>
          <a:p>
            <a:pPr indent="0" marL="0">
              <a:buNone/>
            </a:pPr>
            <a:r>
              <a:rPr lang="en-US" sz="1425" dirty="0">
                <a:solidFill>
                  <a:schemeClr val="tx1"/>
                </a:solidFill>
              </a:rPr>
              <a:t>Same, plus </a:t>
            </a:r>
            <a:r>
              <a:rPr lang="en-US" sz="1425" dirty="0">
                <a:solidFill>
                  <a:schemeClr val="tx1"/>
                </a:solidFill>
                <a:highlight>
                  <a:srgbClr val="FDD9E5"/>
                </a:highlight>
              </a:rPr>
              <a:t>end with a FINAL: line</a:t>
            </a:r>
            <a:endParaRPr lang="en-US" sz="1425" dirty="0"/>
          </a:p>
        </p:txBody>
      </p:sp>
      <p:sp>
        <p:nvSpPr>
          <p:cNvPr id="13" name="Shape 11"/>
          <p:cNvSpPr/>
          <p:nvPr/>
        </p:nvSpPr>
        <p:spPr>
          <a:xfrm>
            <a:off x="685800" y="4295775"/>
            <a:ext cx="4724400" cy="828675"/>
          </a:xfrm>
          <a:prstGeom prst="rect">
            <a:avLst/>
          </a:prstGeom>
          <a:solidFill>
            <a:srgbClr val="F5F6F8"/>
          </a:solidFill>
          <a:ln/>
        </p:spPr>
      </p:sp>
      <p:sp>
        <p:nvSpPr>
          <p:cNvPr id="14" name="Shape 12"/>
          <p:cNvSpPr/>
          <p:nvPr/>
        </p:nvSpPr>
        <p:spPr>
          <a:xfrm>
            <a:off x="685800" y="4295775"/>
            <a:ext cx="38100" cy="828675"/>
          </a:xfrm>
          <a:prstGeom prst="rect">
            <a:avLst/>
          </a:prstGeom>
          <a:solidFill>
            <a:schemeClr val="accent4"/>
          </a:solidFill>
          <a:ln/>
        </p:spPr>
      </p:sp>
      <p:sp>
        <p:nvSpPr>
          <p:cNvPr id="15" name="Text 13"/>
          <p:cNvSpPr txBox="1"/>
          <p:nvPr/>
        </p:nvSpPr>
        <p:spPr>
          <a:xfrm>
            <a:off x="838200" y="4381500"/>
            <a:ext cx="4476750" cy="695325"/>
          </a:xfrm>
          <a:prstGeom prst="rect">
            <a:avLst/>
          </a:prstGeom>
          <a:noFill/>
          <a:ln/>
        </p:spPr>
        <p:txBody>
          <a:bodyPr wrap="square" lIns="0" tIns="0" rIns="0" bIns="0" rtlCol="0" anchor="t"/>
          <a:lstStyle/>
          <a:p>
            <a:pPr indent="0" marL="0">
              <a:buNone/>
            </a:pPr>
            <a:r>
              <a:rPr lang="en-US" sz="900" b="1" spc="120" kern="0" dirty="0">
                <a:solidFill>
                  <a:schemeClr val="tx2"/>
                </a:solidFill>
              </a:rPr>
              <a:t>DIAGNOSE FIRST</a:t>
            </a:r>
            <a:endParaRPr lang="en-US" sz="1425" dirty="0"/>
          </a:p>
          <a:p>
            <a:pPr indent="0" marL="0">
              <a:buNone/>
            </a:pPr>
            <a:r>
              <a:rPr lang="en-US" sz="1425" dirty="0">
                <a:solidFill>
                  <a:schemeClr val="tx1"/>
                </a:solidFill>
              </a:rPr>
              <a:t>Same, plus </a:t>
            </a:r>
            <a:r>
              <a:rPr lang="en-US" sz="1425" dirty="0">
                <a:solidFill>
                  <a:schemeClr val="tx1"/>
                </a:solidFill>
                <a:highlight>
                  <a:srgbClr val="FDD9E5"/>
                </a:highlight>
              </a:rPr>
              <a:t>first write EVIDENCE_STATE: clear, or one of six problems</a:t>
            </a:r>
            <a:r>
              <a:rPr lang="en-US" sz="1425" dirty="0">
                <a:solidFill>
                  <a:schemeClr val="tx1"/>
                </a:solidFill>
              </a:rPr>
              <a:t>, then FINAL:</a:t>
            </a:r>
            <a:endParaRPr lang="en-US" sz="1425" dirty="0"/>
          </a:p>
        </p:txBody>
      </p:sp>
      <p:sp>
        <p:nvSpPr>
          <p:cNvPr id="16" name="Text 14"/>
          <p:cNvSpPr txBox="1"/>
          <p:nvPr/>
        </p:nvSpPr>
        <p:spPr>
          <a:xfrm>
            <a:off x="5829300" y="1200150"/>
            <a:ext cx="5676900" cy="171450"/>
          </a:xfrm>
          <a:prstGeom prst="rect">
            <a:avLst/>
          </a:prstGeom>
          <a:noFill/>
          <a:ln/>
        </p:spPr>
        <p:txBody>
          <a:bodyPr wrap="square" lIns="0" tIns="0" rIns="0" bIns="0" rtlCol="0" anchor="t"/>
          <a:lstStyle/>
          <a:p>
            <a:pPr indent="0" marL="0">
              <a:buNone/>
            </a:pPr>
            <a:r>
              <a:rPr lang="en-US" sz="975" b="1" spc="120" kern="0" dirty="0">
                <a:solidFill>
                  <a:schemeClr val="tx2"/>
                </a:solidFill>
              </a:rPr>
              <a:t>HOW OFTEN THE MODEL WROTE "CLEAR"</a:t>
            </a:r>
            <a:endParaRPr lang="en-US" sz="975" dirty="0"/>
          </a:p>
        </p:txBody>
      </p:sp>
      <p:sp>
        <p:nvSpPr>
          <p:cNvPr id="17" name="Text 15"/>
          <p:cNvSpPr txBox="1"/>
          <p:nvPr/>
        </p:nvSpPr>
        <p:spPr>
          <a:xfrm>
            <a:off x="5829300" y="1333500"/>
            <a:ext cx="5676900" cy="952500"/>
          </a:xfrm>
          <a:prstGeom prst="rect">
            <a:avLst/>
          </a:prstGeom>
          <a:noFill/>
          <a:ln/>
        </p:spPr>
        <p:txBody>
          <a:bodyPr wrap="square" lIns="0" tIns="0" rIns="0" bIns="0" rtlCol="0" anchor="b"/>
          <a:lstStyle/>
          <a:p>
            <a:pPr indent="0" marL="0">
              <a:buNone/>
            </a:pPr>
            <a:r>
              <a:rPr lang="en-US" sz="6600" b="1" dirty="0">
                <a:solidFill>
                  <a:schemeClr val="tx1"/>
                </a:solidFill>
                <a:latin typeface="+mj-lt" pitchFamily="34" charset="0"/>
                <a:ea typeface="+mj-lt" pitchFamily="34" charset="-122"/>
                <a:cs typeface="+mj-lt" pitchFamily="34" charset="-120"/>
              </a:rPr>
              <a:t>762</a:t>
            </a:r>
            <a:r>
              <a:rPr lang="en-US" sz="2250" dirty="0">
                <a:solidFill>
                  <a:schemeClr val="tx2"/>
                </a:solidFill>
                <a:latin typeface="+mj-lt" pitchFamily="34" charset="0"/>
                <a:ea typeface="+mj-lt" pitchFamily="34" charset="-122"/>
                <a:cs typeface="+mj-lt" pitchFamily="34" charset="-120"/>
              </a:rPr>
              <a:t> / 800</a:t>
            </a:r>
            <a:endParaRPr lang="en-US" sz="6600" dirty="0"/>
          </a:p>
        </p:txBody>
      </p:sp>
      <p:sp>
        <p:nvSpPr>
          <p:cNvPr id="18" name="Text 16"/>
          <p:cNvSpPr txBox="1"/>
          <p:nvPr/>
        </p:nvSpPr>
        <p:spPr>
          <a:xfrm>
            <a:off x="5829300" y="2286000"/>
            <a:ext cx="5676900" cy="266700"/>
          </a:xfrm>
          <a:prstGeom prst="rect">
            <a:avLst/>
          </a:prstGeom>
          <a:noFill/>
          <a:ln/>
        </p:spPr>
        <p:txBody>
          <a:bodyPr wrap="square" lIns="0" tIns="0" rIns="0" bIns="0" rtlCol="0" anchor="t"/>
          <a:lstStyle/>
          <a:p>
            <a:pPr indent="0" marL="0">
              <a:buNone/>
            </a:pPr>
            <a:r>
              <a:rPr lang="en-US" sz="1350" b="1" dirty="0">
                <a:solidFill>
                  <a:schemeClr val="tx1"/>
                </a:solidFill>
              </a:rPr>
              <a:t>95%</a:t>
            </a:r>
            <a:r>
              <a:rPr lang="en-US" sz="1350" dirty="0">
                <a:solidFill>
                  <a:schemeClr val="tx1"/>
                </a:solidFill>
              </a:rPr>
              <a:t>, including </a:t>
            </a:r>
            <a:r>
              <a:rPr lang="en-US" sz="1350" b="1" dirty="0">
                <a:solidFill>
                  <a:schemeClr val="tx1"/>
                </a:solidFill>
              </a:rPr>
              <a:t>504 of the 532</a:t>
            </a:r>
            <a:r>
              <a:rPr lang="en-US" sz="1350" dirty="0">
                <a:solidFill>
                  <a:schemeClr val="tx1"/>
                </a:solidFill>
              </a:rPr>
              <a:t> examples that had to be refused.</a:t>
            </a:r>
            <a:endParaRPr lang="en-US" sz="1350" dirty="0"/>
          </a:p>
        </p:txBody>
      </p:sp>
      <p:sp>
        <p:nvSpPr>
          <p:cNvPr id="19" name="Text 17"/>
          <p:cNvSpPr txBox="1"/>
          <p:nvPr/>
        </p:nvSpPr>
        <p:spPr>
          <a:xfrm>
            <a:off x="5829300" y="2714625"/>
            <a:ext cx="5676900" cy="171450"/>
          </a:xfrm>
          <a:prstGeom prst="rect">
            <a:avLst/>
          </a:prstGeom>
          <a:noFill/>
          <a:ln/>
        </p:spPr>
        <p:txBody>
          <a:bodyPr wrap="square" lIns="0" tIns="0" rIns="0" bIns="0" rtlCol="0" anchor="t"/>
          <a:lstStyle/>
          <a:p>
            <a:pPr indent="0" marL="0">
              <a:buNone/>
            </a:pPr>
            <a:r>
              <a:rPr lang="en-US" sz="975" b="1" spc="120" kern="0" dirty="0">
                <a:solidFill>
                  <a:schemeClr val="tx2"/>
                </a:solidFill>
              </a:rPr>
              <a:t>NEEDED REFUSALS CAUGHT (776 SHARED EXAMPLES)</a:t>
            </a:r>
            <a:endParaRPr lang="en-US" sz="975" dirty="0"/>
          </a:p>
        </p:txBody>
      </p:sp>
      <p:sp>
        <p:nvSpPr>
          <p:cNvPr id="20" name="Text 18"/>
          <p:cNvSpPr txBox="1"/>
          <p:nvPr/>
        </p:nvSpPr>
        <p:spPr>
          <a:xfrm>
            <a:off x="5829300" y="2962275"/>
            <a:ext cx="1428750" cy="247650"/>
          </a:xfrm>
          <a:prstGeom prst="rect">
            <a:avLst/>
          </a:prstGeom>
          <a:noFill/>
          <a:ln/>
        </p:spPr>
        <p:txBody>
          <a:bodyPr wrap="square" lIns="0" tIns="0" rIns="0" bIns="0" rtlCol="0" anchor="ctr"/>
          <a:lstStyle/>
          <a:p>
            <a:pPr indent="0" marL="0">
              <a:buNone/>
            </a:pPr>
            <a:r>
              <a:rPr lang="en-US" sz="1425" dirty="0">
                <a:solidFill>
                  <a:schemeClr val="tx1"/>
                </a:solidFill>
              </a:rPr>
              <a:t>Baseline</a:t>
            </a:r>
            <a:endParaRPr lang="en-US" sz="1425" dirty="0"/>
          </a:p>
        </p:txBody>
      </p:sp>
      <p:sp>
        <p:nvSpPr>
          <p:cNvPr id="21" name="Shape 19"/>
          <p:cNvSpPr/>
          <p:nvPr/>
        </p:nvSpPr>
        <p:spPr>
          <a:xfrm>
            <a:off x="7353300" y="2962275"/>
            <a:ext cx="3390900" cy="247650"/>
          </a:xfrm>
          <a:prstGeom prst="roundRect">
            <a:avLst>
              <a:gd name="adj" fmla="val 14769"/>
            </a:avLst>
          </a:prstGeom>
          <a:solidFill>
            <a:srgbClr val="ECEFF3"/>
          </a:solidFill>
          <a:ln/>
        </p:spPr>
      </p:sp>
      <p:sp>
        <p:nvSpPr>
          <p:cNvPr id="22" name="bar Baseline"/>
          <p:cNvSpPr/>
          <p:nvPr/>
        </p:nvSpPr>
        <p:spPr>
          <a:xfrm>
            <a:off x="7353300" y="2962275"/>
            <a:ext cx="1468260" cy="247650"/>
          </a:xfrm>
          <a:prstGeom prst="roundRect">
            <a:avLst>
              <a:gd name="adj" fmla="val 14769"/>
            </a:avLst>
          </a:prstGeom>
          <a:solidFill>
            <a:schemeClr val="tx1"/>
          </a:solidFill>
          <a:ln/>
        </p:spPr>
      </p:sp>
      <p:sp>
        <p:nvSpPr>
          <p:cNvPr id="23" name="Text 21"/>
          <p:cNvSpPr txBox="1"/>
          <p:nvPr/>
        </p:nvSpPr>
        <p:spPr>
          <a:xfrm>
            <a:off x="10839450" y="2962275"/>
            <a:ext cx="666750" cy="247650"/>
          </a:xfrm>
          <a:prstGeom prst="rect">
            <a:avLst/>
          </a:prstGeom>
          <a:noFill/>
          <a:ln/>
        </p:spPr>
        <p:txBody>
          <a:bodyPr wrap="square" lIns="0" tIns="0" rIns="0" bIns="0" rtlCol="0" anchor="ctr"/>
          <a:lstStyle/>
          <a:p>
            <a:pPr algn="r" indent="0" marL="0">
              <a:buNone/>
            </a:pPr>
            <a:r>
              <a:rPr lang="en-US" sz="1425" b="1" dirty="0">
                <a:solidFill>
                  <a:schemeClr val="tx1"/>
                </a:solidFill>
              </a:rPr>
              <a:t>43.3%</a:t>
            </a:r>
            <a:endParaRPr lang="en-US" sz="1425" dirty="0"/>
          </a:p>
        </p:txBody>
      </p:sp>
      <p:sp>
        <p:nvSpPr>
          <p:cNvPr id="24" name="Text 22"/>
          <p:cNvSpPr txBox="1"/>
          <p:nvPr/>
        </p:nvSpPr>
        <p:spPr>
          <a:xfrm>
            <a:off x="5829300" y="3314700"/>
            <a:ext cx="1428750" cy="247650"/>
          </a:xfrm>
          <a:prstGeom prst="rect">
            <a:avLst/>
          </a:prstGeom>
          <a:noFill/>
          <a:ln/>
        </p:spPr>
        <p:txBody>
          <a:bodyPr wrap="square" lIns="0" tIns="0" rIns="0" bIns="0" rtlCol="0" anchor="ctr"/>
          <a:lstStyle/>
          <a:p>
            <a:pPr indent="0" marL="0">
              <a:buNone/>
            </a:pPr>
            <a:r>
              <a:rPr lang="en-US" sz="1425" dirty="0">
                <a:solidFill>
                  <a:schemeClr val="tx1"/>
                </a:solidFill>
              </a:rPr>
              <a:t>Control</a:t>
            </a:r>
            <a:endParaRPr lang="en-US" sz="1425" dirty="0"/>
          </a:p>
        </p:txBody>
      </p:sp>
      <p:sp>
        <p:nvSpPr>
          <p:cNvPr id="25" name="Shape 23"/>
          <p:cNvSpPr/>
          <p:nvPr/>
        </p:nvSpPr>
        <p:spPr>
          <a:xfrm>
            <a:off x="7353300" y="3314700"/>
            <a:ext cx="3390900" cy="247650"/>
          </a:xfrm>
          <a:prstGeom prst="roundRect">
            <a:avLst>
              <a:gd name="adj" fmla="val 14769"/>
            </a:avLst>
          </a:prstGeom>
          <a:solidFill>
            <a:srgbClr val="ECEFF3"/>
          </a:solidFill>
          <a:ln/>
        </p:spPr>
      </p:sp>
      <p:sp>
        <p:nvSpPr>
          <p:cNvPr id="26" name="bar Control"/>
          <p:cNvSpPr/>
          <p:nvPr/>
        </p:nvSpPr>
        <p:spPr>
          <a:xfrm>
            <a:off x="7353300" y="3314700"/>
            <a:ext cx="1213942" cy="247650"/>
          </a:xfrm>
          <a:prstGeom prst="roundRect">
            <a:avLst>
              <a:gd name="adj" fmla="val 14769"/>
            </a:avLst>
          </a:prstGeom>
          <a:solidFill>
            <a:schemeClr val="accent5"/>
          </a:solidFill>
          <a:ln/>
        </p:spPr>
      </p:sp>
      <p:sp>
        <p:nvSpPr>
          <p:cNvPr id="27" name="Text 25"/>
          <p:cNvSpPr txBox="1"/>
          <p:nvPr/>
        </p:nvSpPr>
        <p:spPr>
          <a:xfrm>
            <a:off x="10839450" y="3314700"/>
            <a:ext cx="666750" cy="247650"/>
          </a:xfrm>
          <a:prstGeom prst="rect">
            <a:avLst/>
          </a:prstGeom>
          <a:noFill/>
          <a:ln/>
        </p:spPr>
        <p:txBody>
          <a:bodyPr wrap="square" lIns="0" tIns="0" rIns="0" bIns="0" rtlCol="0" anchor="ctr"/>
          <a:lstStyle/>
          <a:p>
            <a:pPr algn="r" indent="0" marL="0">
              <a:buNone/>
            </a:pPr>
            <a:r>
              <a:rPr lang="en-US" sz="1425" b="1" dirty="0">
                <a:solidFill>
                  <a:schemeClr val="tx1"/>
                </a:solidFill>
              </a:rPr>
              <a:t>35.8%</a:t>
            </a:r>
            <a:endParaRPr lang="en-US" sz="1425" dirty="0"/>
          </a:p>
        </p:txBody>
      </p:sp>
      <p:sp>
        <p:nvSpPr>
          <p:cNvPr id="28" name="Text 26"/>
          <p:cNvSpPr txBox="1"/>
          <p:nvPr/>
        </p:nvSpPr>
        <p:spPr>
          <a:xfrm>
            <a:off x="5829300" y="3667125"/>
            <a:ext cx="1428750" cy="247650"/>
          </a:xfrm>
          <a:prstGeom prst="rect">
            <a:avLst/>
          </a:prstGeom>
          <a:noFill/>
          <a:ln/>
        </p:spPr>
        <p:txBody>
          <a:bodyPr wrap="square" lIns="0" tIns="0" rIns="0" bIns="0" rtlCol="0" anchor="ctr"/>
          <a:lstStyle/>
          <a:p>
            <a:pPr indent="0" marL="0">
              <a:buNone/>
            </a:pPr>
            <a:r>
              <a:rPr lang="en-US" sz="1425" dirty="0">
                <a:solidFill>
                  <a:schemeClr val="tx1"/>
                </a:solidFill>
              </a:rPr>
              <a:t>Diagnose first</a:t>
            </a:r>
            <a:endParaRPr lang="en-US" sz="1425" dirty="0"/>
          </a:p>
        </p:txBody>
      </p:sp>
      <p:sp>
        <p:nvSpPr>
          <p:cNvPr id="29" name="Shape 27"/>
          <p:cNvSpPr/>
          <p:nvPr/>
        </p:nvSpPr>
        <p:spPr>
          <a:xfrm>
            <a:off x="7353300" y="3667125"/>
            <a:ext cx="3390900" cy="247650"/>
          </a:xfrm>
          <a:prstGeom prst="roundRect">
            <a:avLst>
              <a:gd name="adj" fmla="val 14769"/>
            </a:avLst>
          </a:prstGeom>
          <a:solidFill>
            <a:srgbClr val="ECEFF3"/>
          </a:solidFill>
          <a:ln/>
        </p:spPr>
      </p:sp>
      <p:sp>
        <p:nvSpPr>
          <p:cNvPr id="30" name="bar Diagnose first"/>
          <p:cNvSpPr/>
          <p:nvPr/>
        </p:nvSpPr>
        <p:spPr>
          <a:xfrm>
            <a:off x="7353300" y="3667125"/>
            <a:ext cx="64427" cy="247650"/>
          </a:xfrm>
          <a:prstGeom prst="roundRect">
            <a:avLst>
              <a:gd name="adj" fmla="val 56771"/>
            </a:avLst>
          </a:prstGeom>
          <a:solidFill>
            <a:schemeClr val="accent4"/>
          </a:solidFill>
          <a:ln/>
        </p:spPr>
      </p:sp>
      <p:sp>
        <p:nvSpPr>
          <p:cNvPr id="31" name="Text 29"/>
          <p:cNvSpPr txBox="1"/>
          <p:nvPr/>
        </p:nvSpPr>
        <p:spPr>
          <a:xfrm>
            <a:off x="10839450" y="3667125"/>
            <a:ext cx="666750" cy="247650"/>
          </a:xfrm>
          <a:prstGeom prst="rect">
            <a:avLst/>
          </a:prstGeom>
          <a:noFill/>
          <a:ln/>
        </p:spPr>
        <p:txBody>
          <a:bodyPr wrap="square" lIns="0" tIns="0" rIns="0" bIns="0" rtlCol="0" anchor="ctr"/>
          <a:lstStyle/>
          <a:p>
            <a:pPr algn="r" indent="0" marL="0">
              <a:buNone/>
            </a:pPr>
            <a:r>
              <a:rPr lang="en-US" sz="1425" b="1" dirty="0">
                <a:solidFill>
                  <a:schemeClr val="tx1"/>
                </a:solidFill>
              </a:rPr>
              <a:t>1.9%</a:t>
            </a:r>
            <a:endParaRPr lang="en-US" sz="1425" dirty="0"/>
          </a:p>
        </p:txBody>
      </p:sp>
      <p:sp>
        <p:nvSpPr>
          <p:cNvPr id="32" name="Shape 30"/>
          <p:cNvSpPr/>
          <p:nvPr/>
        </p:nvSpPr>
        <p:spPr>
          <a:xfrm>
            <a:off x="685800" y="5838825"/>
            <a:ext cx="10820400" cy="638175"/>
          </a:xfrm>
          <a:prstGeom prst="roundRect">
            <a:avLst>
              <a:gd name="adj" fmla="val 14328"/>
            </a:avLst>
          </a:prstGeom>
          <a:solidFill>
            <a:schemeClr val="tx1"/>
          </a:solidFill>
          <a:ln/>
        </p:spPr>
      </p:sp>
      <p:sp>
        <p:nvSpPr>
          <p:cNvPr id="33" name="Text 31"/>
          <p:cNvSpPr txBox="1"/>
          <p:nvPr/>
        </p:nvSpPr>
        <p:spPr>
          <a:xfrm>
            <a:off x="895350" y="5838825"/>
            <a:ext cx="1190625" cy="638175"/>
          </a:xfrm>
          <a:prstGeom prst="rect">
            <a:avLst/>
          </a:prstGeom>
          <a:noFill/>
          <a:ln/>
        </p:spPr>
        <p:txBody>
          <a:bodyPr wrap="square" lIns="0" tIns="0" rIns="0" bIns="0" rtlCol="0" anchor="ctr"/>
          <a:lstStyle/>
          <a:p>
            <a:pPr indent="0" marL="0">
              <a:buNone/>
            </a:pPr>
            <a:r>
              <a:rPr lang="en-US" sz="900" b="1" spc="140" kern="0" dirty="0">
                <a:solidFill>
                  <a:srgbClr val="F2B38A"/>
                </a:solidFill>
              </a:rPr>
              <a:t>TURNING POINT</a:t>
            </a:r>
            <a:endParaRPr lang="en-US" sz="900" dirty="0"/>
          </a:p>
        </p:txBody>
      </p:sp>
      <p:sp>
        <p:nvSpPr>
          <p:cNvPr id="34" name="Text 32"/>
          <p:cNvSpPr txBox="1"/>
          <p:nvPr/>
        </p:nvSpPr>
        <p:spPr>
          <a:xfrm>
            <a:off x="2190750" y="5838825"/>
            <a:ext cx="5334000" cy="638175"/>
          </a:xfrm>
          <a:prstGeom prst="rect">
            <a:avLst/>
          </a:prstGeom>
          <a:noFill/>
          <a:ln/>
        </p:spPr>
        <p:txBody>
          <a:bodyPr wrap="square" lIns="0" tIns="0" rIns="0" bIns="0" rtlCol="0" anchor="ctr"/>
          <a:lstStyle/>
          <a:p>
            <a:pPr indent="0" marL="0">
              <a:buNone/>
            </a:pPr>
            <a:r>
              <a:rPr lang="en-US" sz="2025" b="1" dirty="0">
                <a:solidFill>
                  <a:schemeClr val="bg1"/>
                </a:solidFill>
                <a:latin typeface="+mj-lt" pitchFamily="34" charset="0"/>
                <a:ea typeface="+mj-lt" pitchFamily="34" charset="-122"/>
                <a:cs typeface="+mj-lt" pitchFamily="34" charset="-120"/>
              </a:rPr>
              <a:t>Do not ask the model. </a:t>
            </a:r>
            <a:r>
              <a:rPr lang="en-US" sz="2025" b="1" dirty="0">
                <a:solidFill>
                  <a:srgbClr val="7FE0D0"/>
                </a:solidFill>
                <a:latin typeface="+mj-lt" pitchFamily="34" charset="0"/>
                <a:ea typeface="+mj-lt" pitchFamily="34" charset="-122"/>
                <a:cs typeface="+mj-lt" pitchFamily="34" charset="-120"/>
              </a:rPr>
              <a:t>Read it.</a:t>
            </a:r>
            <a:endParaRPr lang="en-US" sz="2025" dirty="0"/>
          </a:p>
        </p:txBody>
      </p:sp>
      <p:sp>
        <p:nvSpPr>
          <p:cNvPr id="35" name="Text 33"/>
          <p:cNvSpPr txBox="1"/>
          <p:nvPr/>
        </p:nvSpPr>
        <p:spPr>
          <a:xfrm>
            <a:off x="8029575" y="5838825"/>
            <a:ext cx="3333750" cy="638175"/>
          </a:xfrm>
          <a:prstGeom prst="rect">
            <a:avLst/>
          </a:prstGeom>
          <a:noFill/>
          <a:ln/>
        </p:spPr>
        <p:txBody>
          <a:bodyPr wrap="square" lIns="0" tIns="0" rIns="0" bIns="0" rtlCol="0" anchor="ctr"/>
          <a:lstStyle/>
          <a:p>
            <a:pPr indent="0" marL="0">
              <a:buNone/>
            </a:pPr>
            <a:r>
              <a:rPr lang="en-US" sz="1200" dirty="0">
                <a:solidFill>
                  <a:srgbClr val="C9D0DE"/>
                </a:solidFill>
              </a:rPr>
              <a:t>If its written answer cannot be trusted, look at what it computes before it writes.</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body" hasCustomPrompt="1"/>
          </p:nvPr>
        </p:nvSpPr>
        <p:spPr>
          <a:xfrm>
            <a:off x="685800" y="390525"/>
            <a:ext cx="8572500" cy="190500"/>
          </a:xfrm>
          <a:prstGeom prst="rect">
            <a:avLst/>
          </a:prstGeom>
          <a:noFill/>
          <a:ln/>
        </p:spPr>
        <p:txBody>
          <a:bodyPr wrap="square" lIns="0" tIns="0" rIns="0" bIns="0" rtlCol="0" anchor="t"/>
          <a:lstStyle/>
          <a:p>
            <a:pPr indent="0" marL="0">
              <a:buNone/>
            </a:pPr>
            <a:r>
              <a:rPr lang="en-US" sz="1125" b="1" spc="140" kern="0" dirty="0">
                <a:solidFill>
                  <a:schemeClr val="accent1"/>
                </a:solidFill>
              </a:rPr>
              <a:t>EXTENSION 2 · IDEA AND METHOD</a:t>
            </a:r>
            <a:endParaRPr lang="en-US" sz="1125" dirty="0"/>
          </a:p>
        </p:txBody>
      </p:sp>
      <p:sp>
        <p:nvSpPr>
          <p:cNvPr id="3" name="Text 1"/>
          <p:cNvSpPr/>
          <p:nvPr>
            <p:ph idx="102" type="title" hasCustomPrompt="1"/>
          </p:nvPr>
        </p:nvSpPr>
        <p:spPr>
          <a:xfrm>
            <a:off x="685800" y="647700"/>
            <a:ext cx="10820400" cy="838200"/>
          </a:xfrm>
          <a:prstGeom prst="rect">
            <a:avLst/>
          </a:prstGeom>
          <a:noFill/>
          <a:ln/>
        </p:spPr>
        <p:txBody>
          <a:bodyPr wrap="square" lIns="0" tIns="0" rIns="0" bIns="0" rtlCol="0" anchor="t"/>
          <a:lstStyle/>
          <a:p>
            <a:pPr algn="l" indent="0" marL="0">
              <a:buNone/>
            </a:pPr>
            <a:r>
              <a:rPr lang="en-US" sz="2700" b="1" dirty="0">
                <a:solidFill>
                  <a:schemeClr val="tx1"/>
                </a:solidFill>
                <a:latin typeface="Cambria" pitchFamily="34" charset="0"/>
                <a:ea typeface="Cambria" pitchFamily="34" charset="-122"/>
                <a:cs typeface="Cambria" pitchFamily="34" charset="-120"/>
              </a:rPr>
              <a:t>Read the model's own signal instead of its written answer</a:t>
            </a:r>
            <a:endParaRPr lang="en-US" sz="2700" dirty="0"/>
          </a:p>
        </p:txBody>
      </p:sp>
      <p:sp>
        <p:nvSpPr>
          <p:cNvPr id="4" name="part indicator"/>
          <p:cNvSpPr txBox="1"/>
          <p:nvPr/>
        </p:nvSpPr>
        <p:spPr>
          <a:xfrm>
            <a:off x="9382125" y="190500"/>
            <a:ext cx="2428875" cy="190500"/>
          </a:xfrm>
          <a:prstGeom prst="rect">
            <a:avLst/>
          </a:prstGeom>
          <a:noFill/>
          <a:ln/>
        </p:spPr>
        <p:txBody>
          <a:bodyPr wrap="square" lIns="0" tIns="0" rIns="0" bIns="0" rtlCol="0" anchor="t"/>
          <a:lstStyle/>
          <a:p>
            <a:pPr algn="r" indent="0" marL="0">
              <a:buNone/>
            </a:pPr>
            <a:r>
              <a:rPr lang="en-US" sz="975" dirty="0">
                <a:solidFill>
                  <a:schemeClr val="tx2"/>
                </a:solidFill>
              </a:rPr>
              <a:t>The paper</a:t>
            </a:r>
            <a:r>
              <a:rPr lang="en-US" sz="975" dirty="0">
                <a:solidFill>
                  <a:schemeClr val="tx2"/>
                </a:solidFill>
              </a:rPr>
              <a:t>     </a:t>
            </a:r>
            <a:r>
              <a:rPr lang="en-US" sz="975" dirty="0">
                <a:solidFill>
                  <a:schemeClr val="tx2"/>
                </a:solidFill>
              </a:rPr>
              <a:t>Extension 1</a:t>
            </a:r>
            <a:r>
              <a:rPr lang="en-US" sz="975" dirty="0">
                <a:solidFill>
                  <a:schemeClr val="tx2"/>
                </a:solidFill>
              </a:rPr>
              <a:t>     </a:t>
            </a:r>
            <a:r>
              <a:rPr lang="en-US" sz="975" b="1" u="sng" dirty="0">
                <a:solidFill>
                  <a:schemeClr val="tx1"/>
                </a:solidFill>
                <a:uFill>
                  <a:solidFill>
                    <a:srgbClr val="B5541A"/>
                  </a:solidFill>
                </a:uFill>
              </a:rPr>
              <a:t>Extension 2</a:t>
            </a:r>
            <a:endParaRPr lang="en-US" sz="975" dirty="0"/>
          </a:p>
        </p:txBody>
      </p:sp>
      <p:sp>
        <p:nvSpPr>
          <p:cNvPr id="5" name="Shape 3"/>
          <p:cNvSpPr/>
          <p:nvPr/>
        </p:nvSpPr>
        <p:spPr>
          <a:xfrm>
            <a:off x="685800" y="1219200"/>
            <a:ext cx="10820400" cy="676275"/>
          </a:xfrm>
          <a:prstGeom prst="roundRect">
            <a:avLst>
              <a:gd name="adj" fmla="val 9465"/>
            </a:avLst>
          </a:prstGeom>
          <a:solidFill>
            <a:srgbClr val="FBF1E9"/>
          </a:solidFill>
          <a:ln w="17145">
            <a:solidFill>
              <a:schemeClr val="accent1"/>
            </a:solidFill>
            <a:prstDash val="dash"/>
          </a:ln>
        </p:spPr>
      </p:sp>
      <p:sp>
        <p:nvSpPr>
          <p:cNvPr id="6" name="Text 4"/>
          <p:cNvSpPr txBox="1"/>
          <p:nvPr/>
        </p:nvSpPr>
        <p:spPr>
          <a:xfrm>
            <a:off x="838200" y="1295400"/>
            <a:ext cx="10534650" cy="552450"/>
          </a:xfrm>
          <a:prstGeom prst="rect">
            <a:avLst/>
          </a:prstGeom>
          <a:noFill/>
          <a:ln/>
        </p:spPr>
        <p:txBody>
          <a:bodyPr wrap="square" lIns="0" tIns="0" rIns="0" bIns="0" rtlCol="0" anchor="t"/>
          <a:lstStyle/>
          <a:p>
            <a:pPr indent="0" marL="0">
              <a:buNone/>
            </a:pPr>
            <a:r>
              <a:rPr lang="en-US" sz="900" b="1" spc="140" kern="0" dirty="0">
                <a:solidFill>
                  <a:schemeClr val="accent1"/>
                </a:solidFill>
              </a:rPr>
              <a:t>HYPOTHESIS</a:t>
            </a:r>
            <a:endParaRPr lang="en-US" sz="900" dirty="0"/>
          </a:p>
          <a:p>
            <a:pPr indent="0" marL="0">
              <a:buNone/>
            </a:pPr>
            <a:r>
              <a:rPr lang="en-US" sz="1538" dirty="0">
                <a:solidFill>
                  <a:schemeClr val="tx1"/>
                </a:solidFill>
                <a:latin typeface="+mj-lt" pitchFamily="34" charset="0"/>
                <a:ea typeface="+mj-lt" pitchFamily="34" charset="-122"/>
                <a:cs typeface="+mj-lt" pitchFamily="34" charset="-120"/>
              </a:rPr>
              <a:t>Scores and hidden states separate the cases that need a refusal, even when the written decisions miss them.</a:t>
            </a:r>
            <a:endParaRPr lang="en-US" sz="900" dirty="0"/>
          </a:p>
        </p:txBody>
      </p:sp>
      <p:sp>
        <p:nvSpPr>
          <p:cNvPr id="7" name="Shape 5"/>
          <p:cNvSpPr/>
          <p:nvPr/>
        </p:nvSpPr>
        <p:spPr>
          <a:xfrm>
            <a:off x="685800" y="2181225"/>
            <a:ext cx="1714500" cy="2438400"/>
          </a:xfrm>
          <a:prstGeom prst="roundRect">
            <a:avLst>
              <a:gd name="adj" fmla="val 3733"/>
            </a:avLst>
          </a:prstGeom>
          <a:solidFill>
            <a:schemeClr val="bg1"/>
          </a:solidFill>
          <a:ln w="17145">
            <a:solidFill>
              <a:schemeClr val="tx1"/>
            </a:solidFill>
            <a:prstDash val="solid"/>
          </a:ln>
        </p:spPr>
      </p:sp>
      <p:sp>
        <p:nvSpPr>
          <p:cNvPr id="8" name="Text 6"/>
          <p:cNvSpPr txBox="1"/>
          <p:nvPr/>
        </p:nvSpPr>
        <p:spPr>
          <a:xfrm>
            <a:off x="819150" y="2276475"/>
            <a:ext cx="1447800" cy="2247900"/>
          </a:xfrm>
          <a:prstGeom prst="rect">
            <a:avLst/>
          </a:prstGeom>
          <a:noFill/>
          <a:ln/>
        </p:spPr>
        <p:txBody>
          <a:bodyPr wrap="square" lIns="0" tIns="0" rIns="0" bIns="0" rtlCol="0" anchor="ctr"/>
          <a:lstStyle/>
          <a:p>
            <a:pPr indent="0" marL="0">
              <a:lnSpc>
                <a:spcPct val="105000"/>
              </a:lnSpc>
              <a:buNone/>
            </a:pPr>
            <a:r>
              <a:rPr lang="en-US" sz="1425" b="1" dirty="0">
                <a:solidFill>
                  <a:schemeClr val="tx1"/>
                </a:solidFill>
              </a:rPr>
              <a:t>Question + passage</a:t>
            </a:r>
            <a:endParaRPr lang="en-US" sz="1425" dirty="0"/>
          </a:p>
        </p:txBody>
      </p:sp>
      <p:sp>
        <p:nvSpPr>
          <p:cNvPr id="9" name="Shape 7"/>
          <p:cNvSpPr/>
          <p:nvPr/>
        </p:nvSpPr>
        <p:spPr>
          <a:xfrm>
            <a:off x="2438400" y="3400425"/>
            <a:ext cx="285750" cy="0"/>
          </a:xfrm>
          <a:prstGeom prst="line">
            <a:avLst/>
          </a:prstGeom>
          <a:noFill/>
          <a:ln w="19050">
            <a:solidFill>
              <a:schemeClr val="tx1"/>
            </a:solidFill>
            <a:prstDash val="solid"/>
            <a:tailEnd type="triangle"/>
          </a:ln>
        </p:spPr>
      </p:sp>
      <p:sp>
        <p:nvSpPr>
          <p:cNvPr id="10" name="Shape 8"/>
          <p:cNvSpPr/>
          <p:nvPr/>
        </p:nvSpPr>
        <p:spPr>
          <a:xfrm>
            <a:off x="2762250" y="2181225"/>
            <a:ext cx="2247900" cy="2438400"/>
          </a:xfrm>
          <a:prstGeom prst="roundRect">
            <a:avLst>
              <a:gd name="adj" fmla="val 2847"/>
            </a:avLst>
          </a:prstGeom>
          <a:solidFill>
            <a:srgbClr val="DEF4F0"/>
          </a:solidFill>
          <a:ln w="17145">
            <a:solidFill>
              <a:schemeClr val="accent2"/>
            </a:solidFill>
            <a:prstDash val="solid"/>
          </a:ln>
        </p:spPr>
      </p:sp>
      <p:sp>
        <p:nvSpPr>
          <p:cNvPr id="11" name="Text 9"/>
          <p:cNvSpPr txBox="1"/>
          <p:nvPr/>
        </p:nvSpPr>
        <p:spPr>
          <a:xfrm>
            <a:off x="2895600" y="2276475"/>
            <a:ext cx="1981200" cy="2247900"/>
          </a:xfrm>
          <a:prstGeom prst="rect">
            <a:avLst/>
          </a:prstGeom>
          <a:noFill/>
          <a:ln/>
        </p:spPr>
        <p:txBody>
          <a:bodyPr wrap="square" lIns="0" tIns="0" rIns="0" bIns="0" rtlCol="0" anchor="t"/>
          <a:lstStyle/>
          <a:p>
            <a:pPr indent="0" marL="0">
              <a:lnSpc>
                <a:spcPct val="105000"/>
              </a:lnSpc>
              <a:buNone/>
            </a:pPr>
            <a:r>
              <a:rPr lang="en-US" sz="1425" b="1" dirty="0">
                <a:solidFill>
                  <a:schemeClr val="tx1"/>
                </a:solidFill>
              </a:rPr>
              <a:t>Qwen1.5-7B</a:t>
            </a:r>
            <a:endParaRPr lang="en-US" sz="1425" dirty="0"/>
          </a:p>
          <a:p>
            <a:pPr indent="0" marL="0">
              <a:lnSpc>
                <a:spcPct val="105000"/>
              </a:lnSpc>
              <a:spcBef>
                <a:spcPts val="300"/>
              </a:spcBef>
              <a:buNone/>
            </a:pPr>
            <a:r>
              <a:rPr lang="en-US" sz="1125" dirty="0">
                <a:solidFill>
                  <a:schemeClr val="tx2"/>
                </a:solidFill>
              </a:rPr>
              <a:t>one forward pass per prompt, no text written</a:t>
            </a:r>
            <a:endParaRPr lang="en-US" sz="1425" dirty="0"/>
          </a:p>
        </p:txBody>
      </p:sp>
      <p:sp>
        <p:nvSpPr>
          <p:cNvPr id="12" name="Shape 10"/>
          <p:cNvSpPr/>
          <p:nvPr/>
        </p:nvSpPr>
        <p:spPr>
          <a:xfrm>
            <a:off x="5048250" y="3400425"/>
            <a:ext cx="285750" cy="0"/>
          </a:xfrm>
          <a:prstGeom prst="line">
            <a:avLst/>
          </a:prstGeom>
          <a:noFill/>
          <a:ln w="19050">
            <a:solidFill>
              <a:schemeClr val="tx1"/>
            </a:solidFill>
            <a:prstDash val="solid"/>
            <a:tailEnd type="triangle"/>
          </a:ln>
        </p:spPr>
      </p:sp>
      <p:sp>
        <p:nvSpPr>
          <p:cNvPr id="13" name="Shape 11"/>
          <p:cNvSpPr/>
          <p:nvPr/>
        </p:nvSpPr>
        <p:spPr>
          <a:xfrm>
            <a:off x="5372100" y="2181225"/>
            <a:ext cx="3705225" cy="685800"/>
          </a:xfrm>
          <a:prstGeom prst="roundRect">
            <a:avLst>
              <a:gd name="adj" fmla="val 9333"/>
            </a:avLst>
          </a:prstGeom>
          <a:solidFill>
            <a:srgbClr val="E7EFFC"/>
          </a:solidFill>
          <a:ln w="17145">
            <a:solidFill>
              <a:schemeClr val="accent3"/>
            </a:solidFill>
            <a:prstDash val="solid"/>
          </a:ln>
        </p:spPr>
      </p:sp>
      <p:sp>
        <p:nvSpPr>
          <p:cNvPr id="14" name="Text 12"/>
          <p:cNvSpPr txBox="1"/>
          <p:nvPr/>
        </p:nvSpPr>
        <p:spPr>
          <a:xfrm>
            <a:off x="5505450" y="2276475"/>
            <a:ext cx="3438525" cy="495300"/>
          </a:xfrm>
          <a:prstGeom prst="rect">
            <a:avLst/>
          </a:prstGeom>
          <a:noFill/>
          <a:ln/>
        </p:spPr>
        <p:txBody>
          <a:bodyPr wrap="square" lIns="0" tIns="0" rIns="0" bIns="0" rtlCol="0" anchor="ctr"/>
          <a:lstStyle/>
          <a:p>
            <a:pPr indent="0" marL="0">
              <a:lnSpc>
                <a:spcPct val="105000"/>
              </a:lnSpc>
              <a:buNone/>
            </a:pPr>
            <a:r>
              <a:rPr lang="en-US" sz="1425" b="1" dirty="0">
                <a:solidFill>
                  <a:schemeClr val="tx1"/>
                </a:solidFill>
              </a:rPr>
              <a:t>S1</a:t>
            </a:r>
            <a:r>
              <a:rPr lang="en-US" sz="1425" dirty="0">
                <a:solidFill>
                  <a:schemeClr val="tx1"/>
                </a:solidFill>
              </a:rPr>
              <a:t> · refusal probability</a:t>
            </a:r>
            <a:endParaRPr lang="en-US" sz="1425" dirty="0"/>
          </a:p>
          <a:p>
            <a:pPr indent="0" marL="0">
              <a:lnSpc>
                <a:spcPct val="105000"/>
              </a:lnSpc>
              <a:spcBef>
                <a:spcPts val="300"/>
              </a:spcBef>
              <a:buNone/>
            </a:pPr>
            <a:r>
              <a:rPr lang="en-US" sz="1200" dirty="0">
                <a:solidFill>
                  <a:schemeClr val="tx2"/>
                </a:solidFill>
              </a:rPr>
              <a:t>chance the reply opens with a refusal code</a:t>
            </a:r>
            <a:endParaRPr lang="en-US" sz="1425" dirty="0"/>
          </a:p>
        </p:txBody>
      </p:sp>
      <p:sp>
        <p:nvSpPr>
          <p:cNvPr id="15" name="Shape 13"/>
          <p:cNvSpPr/>
          <p:nvPr/>
        </p:nvSpPr>
        <p:spPr>
          <a:xfrm>
            <a:off x="5372100" y="2962275"/>
            <a:ext cx="3705225" cy="885825"/>
          </a:xfrm>
          <a:prstGeom prst="roundRect">
            <a:avLst>
              <a:gd name="adj" fmla="val 7226"/>
            </a:avLst>
          </a:prstGeom>
          <a:solidFill>
            <a:srgbClr val="E7EFFC"/>
          </a:solidFill>
          <a:ln w="17145">
            <a:solidFill>
              <a:schemeClr val="accent3"/>
            </a:solidFill>
            <a:prstDash val="solid"/>
          </a:ln>
        </p:spPr>
      </p:sp>
      <p:sp>
        <p:nvSpPr>
          <p:cNvPr id="16" name="Text 14"/>
          <p:cNvSpPr txBox="1"/>
          <p:nvPr/>
        </p:nvSpPr>
        <p:spPr>
          <a:xfrm>
            <a:off x="5505450" y="3057525"/>
            <a:ext cx="3438525" cy="695325"/>
          </a:xfrm>
          <a:prstGeom prst="rect">
            <a:avLst/>
          </a:prstGeom>
          <a:noFill/>
          <a:ln/>
        </p:spPr>
        <p:txBody>
          <a:bodyPr wrap="square" lIns="0" tIns="0" rIns="0" bIns="0" rtlCol="0" anchor="ctr"/>
          <a:lstStyle/>
          <a:p>
            <a:pPr indent="0" marL="0">
              <a:lnSpc>
                <a:spcPct val="105000"/>
              </a:lnSpc>
              <a:buNone/>
            </a:pPr>
            <a:r>
              <a:rPr lang="en-US" sz="1425" b="1" dirty="0">
                <a:solidFill>
                  <a:schemeClr val="tx1"/>
                </a:solidFill>
              </a:rPr>
              <a:t>S2</a:t>
            </a:r>
            <a:r>
              <a:rPr lang="en-US" sz="1425" dirty="0">
                <a:solidFill>
                  <a:schemeClr val="tx1"/>
                </a:solidFill>
              </a:rPr>
              <a:t> · yes or no</a:t>
            </a:r>
            <a:endParaRPr lang="en-US" sz="1425" dirty="0"/>
          </a:p>
          <a:p>
            <a:pPr indent="0" marL="0">
              <a:lnSpc>
                <a:spcPct val="105000"/>
              </a:lnSpc>
              <a:spcBef>
                <a:spcPts val="300"/>
              </a:spcBef>
              <a:buNone/>
            </a:pPr>
            <a:r>
              <a:rPr lang="en-US" sz="1200" dirty="0">
                <a:solidFill>
                  <a:schemeClr val="tx2"/>
                </a:solidFill>
              </a:rPr>
              <a:t>"can it be answered?": chance of No against Yes</a:t>
            </a:r>
            <a:endParaRPr lang="en-US" sz="1425" dirty="0"/>
          </a:p>
        </p:txBody>
      </p:sp>
      <p:sp>
        <p:nvSpPr>
          <p:cNvPr id="17" name="Shape 15"/>
          <p:cNvSpPr/>
          <p:nvPr/>
        </p:nvSpPr>
        <p:spPr>
          <a:xfrm>
            <a:off x="5372100" y="3933825"/>
            <a:ext cx="3705225" cy="685800"/>
          </a:xfrm>
          <a:prstGeom prst="roundRect">
            <a:avLst>
              <a:gd name="adj" fmla="val 9333"/>
            </a:avLst>
          </a:prstGeom>
          <a:solidFill>
            <a:srgbClr val="FBF1E9"/>
          </a:solidFill>
          <a:ln w="17145">
            <a:solidFill>
              <a:schemeClr val="accent1"/>
            </a:solidFill>
            <a:prstDash val="solid"/>
          </a:ln>
        </p:spPr>
      </p:sp>
      <p:sp>
        <p:nvSpPr>
          <p:cNvPr id="18" name="Text 16"/>
          <p:cNvSpPr txBox="1"/>
          <p:nvPr/>
        </p:nvSpPr>
        <p:spPr>
          <a:xfrm>
            <a:off x="5505450" y="4029075"/>
            <a:ext cx="3438525" cy="495300"/>
          </a:xfrm>
          <a:prstGeom prst="rect">
            <a:avLst/>
          </a:prstGeom>
          <a:noFill/>
          <a:ln/>
        </p:spPr>
        <p:txBody>
          <a:bodyPr wrap="square" lIns="0" tIns="0" rIns="0" bIns="0" rtlCol="0" anchor="ctr"/>
          <a:lstStyle/>
          <a:p>
            <a:pPr indent="0" marL="0">
              <a:lnSpc>
                <a:spcPct val="105000"/>
              </a:lnSpc>
              <a:buNone/>
            </a:pPr>
            <a:r>
              <a:rPr lang="en-US" sz="1425" b="1" dirty="0">
                <a:solidFill>
                  <a:schemeClr val="tx1"/>
                </a:solidFill>
              </a:rPr>
              <a:t>S3</a:t>
            </a:r>
            <a:r>
              <a:rPr lang="en-US" sz="1425" dirty="0">
                <a:solidFill>
                  <a:schemeClr val="tx1"/>
                </a:solidFill>
              </a:rPr>
              <a:t> · linear probe</a:t>
            </a:r>
            <a:endParaRPr lang="en-US" sz="1425" dirty="0"/>
          </a:p>
          <a:p>
            <a:pPr indent="0" marL="0">
              <a:lnSpc>
                <a:spcPct val="105000"/>
              </a:lnSpc>
              <a:spcBef>
                <a:spcPts val="300"/>
              </a:spcBef>
              <a:buNone/>
            </a:pPr>
            <a:r>
              <a:rPr lang="en-US" sz="1200" dirty="0">
                <a:solidFill>
                  <a:schemeClr val="tx2"/>
                </a:solidFill>
              </a:rPr>
              <a:t>classifier on the hidden state (uses labels)</a:t>
            </a:r>
            <a:endParaRPr lang="en-US" sz="1425" dirty="0"/>
          </a:p>
        </p:txBody>
      </p:sp>
      <p:sp>
        <p:nvSpPr>
          <p:cNvPr id="19" name="Shape 17"/>
          <p:cNvSpPr/>
          <p:nvPr/>
        </p:nvSpPr>
        <p:spPr>
          <a:xfrm>
            <a:off x="9115425" y="3400425"/>
            <a:ext cx="285750" cy="0"/>
          </a:xfrm>
          <a:prstGeom prst="line">
            <a:avLst/>
          </a:prstGeom>
          <a:noFill/>
          <a:ln w="19050">
            <a:solidFill>
              <a:schemeClr val="tx1"/>
            </a:solidFill>
            <a:prstDash val="solid"/>
            <a:tailEnd type="triangle"/>
          </a:ln>
        </p:spPr>
      </p:sp>
      <p:sp>
        <p:nvSpPr>
          <p:cNvPr id="20" name="Shape 18"/>
          <p:cNvSpPr/>
          <p:nvPr/>
        </p:nvSpPr>
        <p:spPr>
          <a:xfrm>
            <a:off x="9439275" y="2181225"/>
            <a:ext cx="2066925" cy="2438400"/>
          </a:xfrm>
          <a:prstGeom prst="roundRect">
            <a:avLst>
              <a:gd name="adj" fmla="val 3097"/>
            </a:avLst>
          </a:prstGeom>
          <a:solidFill>
            <a:schemeClr val="tx1"/>
          </a:solidFill>
          <a:ln w="17145">
            <a:solidFill>
              <a:schemeClr val="tx1"/>
            </a:solidFill>
            <a:prstDash val="solid"/>
          </a:ln>
        </p:spPr>
      </p:sp>
      <p:sp>
        <p:nvSpPr>
          <p:cNvPr id="21" name="Text 19"/>
          <p:cNvSpPr txBox="1"/>
          <p:nvPr/>
        </p:nvSpPr>
        <p:spPr>
          <a:xfrm>
            <a:off x="9572625" y="2276475"/>
            <a:ext cx="1800225" cy="2247900"/>
          </a:xfrm>
          <a:prstGeom prst="rect">
            <a:avLst/>
          </a:prstGeom>
          <a:noFill/>
          <a:ln/>
        </p:spPr>
        <p:txBody>
          <a:bodyPr wrap="square" lIns="0" tIns="0" rIns="0" bIns="0" rtlCol="0" anchor="ctr"/>
          <a:lstStyle/>
          <a:p>
            <a:pPr indent="0" marL="0">
              <a:lnSpc>
                <a:spcPct val="105000"/>
              </a:lnSpc>
              <a:buNone/>
            </a:pPr>
            <a:r>
              <a:rPr lang="en-US" sz="1425" b="1" dirty="0">
                <a:solidFill>
                  <a:schemeClr val="bg1"/>
                </a:solidFill>
              </a:rPr>
              <a:t>Score above a threshold?</a:t>
            </a:r>
            <a:endParaRPr lang="en-US" sz="1425" dirty="0"/>
          </a:p>
          <a:p>
            <a:pPr indent="0" marL="0">
              <a:lnSpc>
                <a:spcPct val="105000"/>
              </a:lnSpc>
              <a:spcBef>
                <a:spcPts val="300"/>
              </a:spcBef>
              <a:buNone/>
            </a:pPr>
            <a:r>
              <a:rPr lang="en-US" sz="1125" dirty="0">
                <a:solidFill>
                  <a:srgbClr val="C9D0DE"/>
                </a:solidFill>
              </a:rPr>
              <a:t>yes: refuse, no: answer</a:t>
            </a:r>
            <a:endParaRPr lang="en-US" sz="1425" dirty="0"/>
          </a:p>
        </p:txBody>
      </p:sp>
      <p:sp>
        <p:nvSpPr>
          <p:cNvPr id="22" name="Text 20"/>
          <p:cNvSpPr txBox="1"/>
          <p:nvPr/>
        </p:nvSpPr>
        <p:spPr>
          <a:xfrm>
            <a:off x="685800" y="5162550"/>
            <a:ext cx="5257800" cy="171450"/>
          </a:xfrm>
          <a:prstGeom prst="rect">
            <a:avLst/>
          </a:prstGeom>
          <a:noFill/>
          <a:ln/>
        </p:spPr>
        <p:txBody>
          <a:bodyPr wrap="square" lIns="0" tIns="0" rIns="0" bIns="0" rtlCol="0" anchor="t"/>
          <a:lstStyle/>
          <a:p>
            <a:pPr indent="0" marL="0">
              <a:buNone/>
            </a:pPr>
            <a:r>
              <a:rPr lang="en-US" sz="975" b="1" spc="120" kern="0" dirty="0">
                <a:solidFill>
                  <a:schemeClr val="tx2"/>
                </a:solidFill>
              </a:rPr>
              <a:t>EVALUATION · 5 GROUPS OF SOURCE QUESTIONS</a:t>
            </a:r>
            <a:endParaRPr lang="en-US" sz="975" dirty="0"/>
          </a:p>
        </p:txBody>
      </p:sp>
      <p:sp>
        <p:nvSpPr>
          <p:cNvPr id="23" name="fold 1"/>
          <p:cNvSpPr/>
          <p:nvPr/>
        </p:nvSpPr>
        <p:spPr>
          <a:xfrm>
            <a:off x="685800" y="5381625"/>
            <a:ext cx="1009650" cy="504825"/>
          </a:xfrm>
          <a:prstGeom prst="roundRect">
            <a:avLst>
              <a:gd name="adj" fmla="val 9057"/>
            </a:avLst>
          </a:prstGeom>
          <a:solidFill>
            <a:srgbClr val="E7EFFC"/>
          </a:solidFill>
          <a:ln w="13970">
            <a:solidFill>
              <a:schemeClr val="accent3"/>
            </a:solidFill>
          </a:ln>
        </p:spPr>
        <p:txBody>
          <a:bodyPr wrap="square" lIns="0" tIns="0" rIns="0" bIns="0" rtlCol="0" anchor="ctr"/>
          <a:lstStyle/>
          <a:p>
            <a:pPr algn="ctr" indent="0" marL="0">
              <a:buNone/>
            </a:pPr>
            <a:r>
              <a:rPr lang="en-US" sz="1275" b="1" dirty="0">
                <a:solidFill>
                  <a:schemeClr val="accent3"/>
                </a:solidFill>
              </a:rPr>
              <a:t>tune</a:t>
            </a:r>
            <a:endParaRPr lang="en-US" sz="1275" dirty="0"/>
          </a:p>
        </p:txBody>
      </p:sp>
      <p:sp>
        <p:nvSpPr>
          <p:cNvPr id="24" name="fold 2"/>
          <p:cNvSpPr/>
          <p:nvPr/>
        </p:nvSpPr>
        <p:spPr>
          <a:xfrm>
            <a:off x="1752600" y="5381625"/>
            <a:ext cx="1009650" cy="504825"/>
          </a:xfrm>
          <a:prstGeom prst="roundRect">
            <a:avLst>
              <a:gd name="adj" fmla="val 9057"/>
            </a:avLst>
          </a:prstGeom>
          <a:solidFill>
            <a:srgbClr val="E7EFFC"/>
          </a:solidFill>
          <a:ln w="13970">
            <a:solidFill>
              <a:schemeClr val="accent3"/>
            </a:solidFill>
          </a:ln>
        </p:spPr>
        <p:txBody>
          <a:bodyPr wrap="square" lIns="0" tIns="0" rIns="0" bIns="0" rtlCol="0" anchor="ctr"/>
          <a:lstStyle/>
          <a:p>
            <a:pPr algn="ctr" indent="0" marL="0">
              <a:buNone/>
            </a:pPr>
            <a:r>
              <a:rPr lang="en-US" sz="1275" b="1" dirty="0">
                <a:solidFill>
                  <a:schemeClr val="accent3"/>
                </a:solidFill>
              </a:rPr>
              <a:t>tune</a:t>
            </a:r>
            <a:endParaRPr lang="en-US" sz="1275" dirty="0"/>
          </a:p>
        </p:txBody>
      </p:sp>
      <p:sp>
        <p:nvSpPr>
          <p:cNvPr id="25" name="fold 3"/>
          <p:cNvSpPr/>
          <p:nvPr/>
        </p:nvSpPr>
        <p:spPr>
          <a:xfrm>
            <a:off x="2809875" y="5381625"/>
            <a:ext cx="1009650" cy="504825"/>
          </a:xfrm>
          <a:prstGeom prst="roundRect">
            <a:avLst>
              <a:gd name="adj" fmla="val 9057"/>
            </a:avLst>
          </a:prstGeom>
          <a:solidFill>
            <a:srgbClr val="E7EFFC"/>
          </a:solidFill>
          <a:ln w="13970">
            <a:solidFill>
              <a:schemeClr val="accent3"/>
            </a:solidFill>
          </a:ln>
        </p:spPr>
        <p:txBody>
          <a:bodyPr wrap="square" lIns="0" tIns="0" rIns="0" bIns="0" rtlCol="0" anchor="ctr"/>
          <a:lstStyle/>
          <a:p>
            <a:pPr algn="ctr" indent="0" marL="0">
              <a:buNone/>
            </a:pPr>
            <a:r>
              <a:rPr lang="en-US" sz="1275" b="1" dirty="0">
                <a:solidFill>
                  <a:schemeClr val="accent3"/>
                </a:solidFill>
              </a:rPr>
              <a:t>tune</a:t>
            </a:r>
            <a:endParaRPr lang="en-US" sz="1275" dirty="0"/>
          </a:p>
        </p:txBody>
      </p:sp>
      <p:sp>
        <p:nvSpPr>
          <p:cNvPr id="26" name="fold 4"/>
          <p:cNvSpPr/>
          <p:nvPr/>
        </p:nvSpPr>
        <p:spPr>
          <a:xfrm>
            <a:off x="3876675" y="5381625"/>
            <a:ext cx="1009650" cy="504825"/>
          </a:xfrm>
          <a:prstGeom prst="roundRect">
            <a:avLst>
              <a:gd name="adj" fmla="val 9057"/>
            </a:avLst>
          </a:prstGeom>
          <a:solidFill>
            <a:srgbClr val="E7EFFC"/>
          </a:solidFill>
          <a:ln w="13970">
            <a:solidFill>
              <a:schemeClr val="accent3"/>
            </a:solidFill>
          </a:ln>
        </p:spPr>
        <p:txBody>
          <a:bodyPr wrap="square" lIns="0" tIns="0" rIns="0" bIns="0" rtlCol="0" anchor="ctr"/>
          <a:lstStyle/>
          <a:p>
            <a:pPr algn="ctr" indent="0" marL="0">
              <a:buNone/>
            </a:pPr>
            <a:r>
              <a:rPr lang="en-US" sz="1275" b="1" dirty="0">
                <a:solidFill>
                  <a:schemeClr val="accent3"/>
                </a:solidFill>
              </a:rPr>
              <a:t>tune</a:t>
            </a:r>
            <a:endParaRPr lang="en-US" sz="1275" dirty="0"/>
          </a:p>
        </p:txBody>
      </p:sp>
      <p:sp>
        <p:nvSpPr>
          <p:cNvPr id="27" name="fold 5"/>
          <p:cNvSpPr/>
          <p:nvPr/>
        </p:nvSpPr>
        <p:spPr>
          <a:xfrm>
            <a:off x="4933950" y="5381625"/>
            <a:ext cx="1009650" cy="504825"/>
          </a:xfrm>
          <a:prstGeom prst="roundRect">
            <a:avLst>
              <a:gd name="adj" fmla="val 9057"/>
            </a:avLst>
          </a:prstGeom>
          <a:solidFill>
            <a:schemeClr val="accent1"/>
          </a:solidFill>
          <a:ln w="13970">
            <a:solidFill>
              <a:schemeClr val="accent1"/>
            </a:solidFill>
          </a:ln>
        </p:spPr>
        <p:txBody>
          <a:bodyPr wrap="square" lIns="0" tIns="0" rIns="0" bIns="0" rtlCol="0" anchor="ctr"/>
          <a:lstStyle/>
          <a:p>
            <a:pPr algn="ctr" indent="0" marL="0">
              <a:buNone/>
            </a:pPr>
            <a:r>
              <a:rPr lang="en-US" sz="1275" b="1" dirty="0">
                <a:solidFill>
                  <a:schemeClr val="bg1"/>
                </a:solidFill>
              </a:rPr>
              <a:t>test</a:t>
            </a:r>
            <a:endParaRPr lang="en-US" sz="1275" dirty="0"/>
          </a:p>
        </p:txBody>
      </p:sp>
      <p:sp>
        <p:nvSpPr>
          <p:cNvPr id="28" name="Text 26"/>
          <p:cNvSpPr txBox="1"/>
          <p:nvPr/>
        </p:nvSpPr>
        <p:spPr>
          <a:xfrm>
            <a:off x="685800" y="6000750"/>
            <a:ext cx="5257800" cy="209550"/>
          </a:xfrm>
          <a:prstGeom prst="rect">
            <a:avLst/>
          </a:prstGeom>
          <a:noFill/>
          <a:ln/>
        </p:spPr>
        <p:txBody>
          <a:bodyPr wrap="square" lIns="0" tIns="0" rIns="0" bIns="0" rtlCol="0" anchor="t"/>
          <a:lstStyle/>
          <a:p>
            <a:pPr indent="0" marL="0">
              <a:buNone/>
            </a:pPr>
            <a:r>
              <a:rPr lang="en-US" sz="1125" dirty="0">
                <a:solidFill>
                  <a:schemeClr val="tx2"/>
                </a:solidFill>
              </a:rPr>
              <a:t>Repeated so each group is tested once.</a:t>
            </a:r>
            <a:endParaRPr lang="en-US" sz="1125" dirty="0"/>
          </a:p>
        </p:txBody>
      </p:sp>
      <p:sp>
        <p:nvSpPr>
          <p:cNvPr id="29" name="Text 27"/>
          <p:cNvSpPr txBox="1"/>
          <p:nvPr/>
        </p:nvSpPr>
        <p:spPr>
          <a:xfrm>
            <a:off x="6248400" y="5133975"/>
            <a:ext cx="5257800" cy="1200150"/>
          </a:xfrm>
          <a:prstGeom prst="rect">
            <a:avLst/>
          </a:prstGeom>
          <a:noFill/>
          <a:ln/>
        </p:spPr>
        <p:txBody>
          <a:bodyPr wrap="square" lIns="0" tIns="0" rIns="0" bIns="0" rtlCol="0" anchor="t"/>
          <a:lstStyle/>
          <a:p>
            <a:pPr marL="177800" indent="-177800">
              <a:spcAft>
                <a:spcPts val="600"/>
              </a:spcAft>
              <a:buSzPct val="100000"/>
              <a:buChar char="•"/>
            </a:pPr>
            <a:r>
              <a:rPr lang="en-US" sz="1500" dirty="0">
                <a:solidFill>
                  <a:schemeClr val="tx1"/>
                </a:solidFill>
              </a:rPr>
              <a:t>Tuned on other questions only: variants of one question never sit on both sides.</a:t>
            </a:r>
            <a:endParaRPr lang="en-US" sz="1500" dirty="0"/>
          </a:p>
          <a:p>
            <a:pPr marL="177800" indent="-177800">
              <a:spcAft>
                <a:spcPts val="600"/>
              </a:spcAft>
              <a:buSzPct val="100000"/>
              <a:buChar char="•"/>
            </a:pPr>
            <a:r>
              <a:rPr lang="en-US" sz="1500" dirty="0">
                <a:solidFill>
                  <a:schemeClr val="tx1"/>
                </a:solidFill>
              </a:rPr>
              <a:t>Intervals resample whole questions. The success rule was fixed before the run.</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body" hasCustomPrompt="1"/>
          </p:nvPr>
        </p:nvSpPr>
        <p:spPr>
          <a:xfrm>
            <a:off x="685800" y="390525"/>
            <a:ext cx="8572500" cy="190500"/>
          </a:xfrm>
          <a:prstGeom prst="rect">
            <a:avLst/>
          </a:prstGeom>
          <a:noFill/>
          <a:ln/>
        </p:spPr>
        <p:txBody>
          <a:bodyPr wrap="square" lIns="0" tIns="0" rIns="0" bIns="0" rtlCol="0" anchor="t"/>
          <a:lstStyle/>
          <a:p>
            <a:pPr indent="0" marL="0">
              <a:buNone/>
            </a:pPr>
            <a:r>
              <a:rPr lang="en-US" sz="1125" b="1" spc="140" kern="0" dirty="0">
                <a:solidFill>
                  <a:schemeClr val="accent1"/>
                </a:solidFill>
              </a:rPr>
              <a:t>EXTENSION 2 · RESULTS AND CONCLUSION</a:t>
            </a:r>
            <a:endParaRPr lang="en-US" sz="1125" dirty="0"/>
          </a:p>
        </p:txBody>
      </p:sp>
      <p:sp>
        <p:nvSpPr>
          <p:cNvPr id="3" name="Text 1"/>
          <p:cNvSpPr/>
          <p:nvPr>
            <p:ph idx="102" type="title" hasCustomPrompt="1"/>
          </p:nvPr>
        </p:nvSpPr>
        <p:spPr>
          <a:xfrm>
            <a:off x="685800" y="647700"/>
            <a:ext cx="10820400" cy="838200"/>
          </a:xfrm>
          <a:prstGeom prst="rect">
            <a:avLst/>
          </a:prstGeom>
          <a:noFill/>
          <a:ln/>
        </p:spPr>
        <p:txBody>
          <a:bodyPr wrap="square" lIns="0" tIns="0" rIns="0" bIns="0" rtlCol="0" anchor="t"/>
          <a:lstStyle/>
          <a:p>
            <a:pPr algn="l" indent="0" marL="0">
              <a:buNone/>
            </a:pPr>
            <a:r>
              <a:rPr lang="en-US" sz="2700" b="1" dirty="0">
                <a:solidFill>
                  <a:schemeClr val="tx1"/>
                </a:solidFill>
                <a:latin typeface="Cambria" pitchFamily="34" charset="0"/>
                <a:ea typeface="Cambria" pitchFamily="34" charset="-122"/>
                <a:cs typeface="Cambria" pitchFamily="34" charset="-120"/>
              </a:rPr>
              <a:t>The signal exists; a better decision than the baseline is not shown</a:t>
            </a:r>
            <a:endParaRPr lang="en-US" sz="2700" dirty="0"/>
          </a:p>
        </p:txBody>
      </p:sp>
      <p:sp>
        <p:nvSpPr>
          <p:cNvPr id="4" name="part indicator"/>
          <p:cNvSpPr txBox="1"/>
          <p:nvPr/>
        </p:nvSpPr>
        <p:spPr>
          <a:xfrm>
            <a:off x="9382125" y="190500"/>
            <a:ext cx="2428875" cy="190500"/>
          </a:xfrm>
          <a:prstGeom prst="rect">
            <a:avLst/>
          </a:prstGeom>
          <a:noFill/>
          <a:ln/>
        </p:spPr>
        <p:txBody>
          <a:bodyPr wrap="square" lIns="0" tIns="0" rIns="0" bIns="0" rtlCol="0" anchor="t"/>
          <a:lstStyle/>
          <a:p>
            <a:pPr algn="r" indent="0" marL="0">
              <a:buNone/>
            </a:pPr>
            <a:r>
              <a:rPr lang="en-US" sz="975" dirty="0">
                <a:solidFill>
                  <a:schemeClr val="tx2"/>
                </a:solidFill>
              </a:rPr>
              <a:t>The paper</a:t>
            </a:r>
            <a:r>
              <a:rPr lang="en-US" sz="975" dirty="0">
                <a:solidFill>
                  <a:schemeClr val="tx2"/>
                </a:solidFill>
              </a:rPr>
              <a:t>     </a:t>
            </a:r>
            <a:r>
              <a:rPr lang="en-US" sz="975" dirty="0">
                <a:solidFill>
                  <a:schemeClr val="tx2"/>
                </a:solidFill>
              </a:rPr>
              <a:t>Extension 1</a:t>
            </a:r>
            <a:r>
              <a:rPr lang="en-US" sz="975" dirty="0">
                <a:solidFill>
                  <a:schemeClr val="tx2"/>
                </a:solidFill>
              </a:rPr>
              <a:t>     </a:t>
            </a:r>
            <a:r>
              <a:rPr lang="en-US" sz="975" b="1" u="sng" dirty="0">
                <a:solidFill>
                  <a:schemeClr val="tx1"/>
                </a:solidFill>
                <a:uFill>
                  <a:solidFill>
                    <a:srgbClr val="B5541A"/>
                  </a:solidFill>
                </a:uFill>
              </a:rPr>
              <a:t>Extension 2</a:t>
            </a:r>
            <a:endParaRPr lang="en-US" sz="975" dirty="0"/>
          </a:p>
        </p:txBody>
      </p:sp>
      <p:sp>
        <p:nvSpPr>
          <p:cNvPr id="5" name="Shape 3"/>
          <p:cNvSpPr/>
          <p:nvPr/>
        </p:nvSpPr>
        <p:spPr>
          <a:xfrm>
            <a:off x="2019300" y="1768400"/>
            <a:ext cx="0" cy="1988484"/>
          </a:xfrm>
          <a:prstGeom prst="line">
            <a:avLst/>
          </a:prstGeom>
          <a:noFill/>
          <a:ln w="14288">
            <a:solidFill>
              <a:srgbClr val="DFE3EA"/>
            </a:solidFill>
            <a:prstDash val="solid"/>
          </a:ln>
        </p:spPr>
      </p:sp>
      <p:sp>
        <p:nvSpPr>
          <p:cNvPr id="6" name="Shape 4"/>
          <p:cNvSpPr/>
          <p:nvPr/>
        </p:nvSpPr>
        <p:spPr>
          <a:xfrm>
            <a:off x="2852738" y="1768400"/>
            <a:ext cx="0" cy="1988484"/>
          </a:xfrm>
          <a:prstGeom prst="line">
            <a:avLst/>
          </a:prstGeom>
          <a:noFill/>
          <a:ln w="14288">
            <a:solidFill>
              <a:srgbClr val="DFE3EA"/>
            </a:solidFill>
            <a:prstDash val="solid"/>
          </a:ln>
        </p:spPr>
      </p:sp>
      <p:sp>
        <p:nvSpPr>
          <p:cNvPr id="7" name="Shape 5"/>
          <p:cNvSpPr/>
          <p:nvPr/>
        </p:nvSpPr>
        <p:spPr>
          <a:xfrm>
            <a:off x="3686175" y="1768400"/>
            <a:ext cx="0" cy="1988484"/>
          </a:xfrm>
          <a:prstGeom prst="line">
            <a:avLst/>
          </a:prstGeom>
          <a:noFill/>
          <a:ln w="14288">
            <a:solidFill>
              <a:srgbClr val="DFE3EA"/>
            </a:solidFill>
            <a:prstDash val="solid"/>
          </a:ln>
        </p:spPr>
      </p:sp>
      <p:sp>
        <p:nvSpPr>
          <p:cNvPr id="8" name="Shape 6"/>
          <p:cNvSpPr/>
          <p:nvPr/>
        </p:nvSpPr>
        <p:spPr>
          <a:xfrm>
            <a:off x="4519613" y="1768400"/>
            <a:ext cx="0" cy="1988484"/>
          </a:xfrm>
          <a:prstGeom prst="line">
            <a:avLst/>
          </a:prstGeom>
          <a:noFill/>
          <a:ln w="14288">
            <a:solidFill>
              <a:srgbClr val="DFE3EA"/>
            </a:solidFill>
            <a:prstDash val="solid"/>
          </a:ln>
        </p:spPr>
      </p:sp>
      <p:sp>
        <p:nvSpPr>
          <p:cNvPr id="9" name="Shape 7"/>
          <p:cNvSpPr/>
          <p:nvPr/>
        </p:nvSpPr>
        <p:spPr>
          <a:xfrm>
            <a:off x="5353050" y="1768400"/>
            <a:ext cx="0" cy="1988484"/>
          </a:xfrm>
          <a:prstGeom prst="line">
            <a:avLst/>
          </a:prstGeom>
          <a:noFill/>
          <a:ln w="14288">
            <a:solidFill>
              <a:srgbClr val="DFE3EA"/>
            </a:solidFill>
            <a:prstDash val="solid"/>
          </a:ln>
        </p:spPr>
      </p:sp>
      <p:sp>
        <p:nvSpPr>
          <p:cNvPr id="10" name="Shape 8"/>
          <p:cNvSpPr/>
          <p:nvPr/>
        </p:nvSpPr>
        <p:spPr>
          <a:xfrm>
            <a:off x="2019300" y="1768400"/>
            <a:ext cx="0" cy="1988484"/>
          </a:xfrm>
          <a:prstGeom prst="line">
            <a:avLst/>
          </a:prstGeom>
          <a:noFill/>
          <a:ln w="20955">
            <a:solidFill>
              <a:srgbClr val="14213D"/>
            </a:solidFill>
            <a:prstDash val="dash"/>
          </a:ln>
        </p:spPr>
      </p:sp>
      <p:sp>
        <p:nvSpPr>
          <p:cNvPr id="11" name="Shape 9"/>
          <p:cNvSpPr/>
          <p:nvPr/>
        </p:nvSpPr>
        <p:spPr>
          <a:xfrm>
            <a:off x="8210550" y="1768400"/>
            <a:ext cx="0" cy="1988484"/>
          </a:xfrm>
          <a:prstGeom prst="line">
            <a:avLst/>
          </a:prstGeom>
          <a:noFill/>
          <a:ln w="14288">
            <a:solidFill>
              <a:srgbClr val="DFE3EA"/>
            </a:solidFill>
            <a:prstDash val="solid"/>
          </a:ln>
        </p:spPr>
      </p:sp>
      <p:sp>
        <p:nvSpPr>
          <p:cNvPr id="12" name="Shape 10"/>
          <p:cNvSpPr/>
          <p:nvPr/>
        </p:nvSpPr>
        <p:spPr>
          <a:xfrm>
            <a:off x="8972550" y="1768400"/>
            <a:ext cx="0" cy="1988484"/>
          </a:xfrm>
          <a:prstGeom prst="line">
            <a:avLst/>
          </a:prstGeom>
          <a:noFill/>
          <a:ln w="14288">
            <a:solidFill>
              <a:srgbClr val="DFE3EA"/>
            </a:solidFill>
            <a:prstDash val="solid"/>
          </a:ln>
        </p:spPr>
      </p:sp>
      <p:sp>
        <p:nvSpPr>
          <p:cNvPr id="13" name="Shape 11"/>
          <p:cNvSpPr/>
          <p:nvPr/>
        </p:nvSpPr>
        <p:spPr>
          <a:xfrm>
            <a:off x="9734550" y="1768400"/>
            <a:ext cx="0" cy="1988484"/>
          </a:xfrm>
          <a:prstGeom prst="line">
            <a:avLst/>
          </a:prstGeom>
          <a:noFill/>
          <a:ln w="14288">
            <a:solidFill>
              <a:srgbClr val="DFE3EA"/>
            </a:solidFill>
            <a:prstDash val="solid"/>
          </a:ln>
        </p:spPr>
      </p:sp>
      <p:sp>
        <p:nvSpPr>
          <p:cNvPr id="14" name="Shape 12"/>
          <p:cNvSpPr/>
          <p:nvPr/>
        </p:nvSpPr>
        <p:spPr>
          <a:xfrm>
            <a:off x="10496550" y="1768400"/>
            <a:ext cx="0" cy="1988484"/>
          </a:xfrm>
          <a:prstGeom prst="line">
            <a:avLst/>
          </a:prstGeom>
          <a:noFill/>
          <a:ln w="14288">
            <a:solidFill>
              <a:srgbClr val="DFE3EA"/>
            </a:solidFill>
            <a:prstDash val="solid"/>
          </a:ln>
        </p:spPr>
      </p:sp>
      <p:sp>
        <p:nvSpPr>
          <p:cNvPr id="15" name="Shape 13"/>
          <p:cNvSpPr/>
          <p:nvPr/>
        </p:nvSpPr>
        <p:spPr>
          <a:xfrm>
            <a:off x="11258550" y="1768400"/>
            <a:ext cx="0" cy="1988484"/>
          </a:xfrm>
          <a:prstGeom prst="line">
            <a:avLst/>
          </a:prstGeom>
          <a:noFill/>
          <a:ln w="14288">
            <a:solidFill>
              <a:srgbClr val="DFE3EA"/>
            </a:solidFill>
            <a:prstDash val="solid"/>
          </a:ln>
        </p:spPr>
      </p:sp>
      <p:sp>
        <p:nvSpPr>
          <p:cNvPr id="16" name="Shape 14"/>
          <p:cNvSpPr/>
          <p:nvPr/>
        </p:nvSpPr>
        <p:spPr>
          <a:xfrm>
            <a:off x="9734550" y="1768400"/>
            <a:ext cx="0" cy="1988484"/>
          </a:xfrm>
          <a:prstGeom prst="line">
            <a:avLst/>
          </a:prstGeom>
          <a:noFill/>
          <a:ln w="20955">
            <a:solidFill>
              <a:srgbClr val="14213D"/>
            </a:solidFill>
            <a:prstDash val="dash"/>
          </a:ln>
        </p:spPr>
      </p:sp>
      <p:sp>
        <p:nvSpPr>
          <p:cNvPr id="17" name="Shape 15"/>
          <p:cNvSpPr/>
          <p:nvPr/>
        </p:nvSpPr>
        <p:spPr>
          <a:xfrm>
            <a:off x="3677603" y="2260787"/>
            <a:ext cx="441960" cy="0"/>
          </a:xfrm>
          <a:prstGeom prst="line">
            <a:avLst/>
          </a:prstGeom>
          <a:noFill/>
          <a:ln w="47625">
            <a:solidFill>
              <a:srgbClr val="2F6FDE"/>
            </a:solidFill>
            <a:prstDash val="solid"/>
          </a:ln>
        </p:spPr>
      </p:sp>
      <p:sp>
        <p:nvSpPr>
          <p:cNvPr id="18" name="Shape 16"/>
          <p:cNvSpPr/>
          <p:nvPr/>
        </p:nvSpPr>
        <p:spPr>
          <a:xfrm>
            <a:off x="8648700" y="2260787"/>
            <a:ext cx="990600" cy="0"/>
          </a:xfrm>
          <a:prstGeom prst="line">
            <a:avLst/>
          </a:prstGeom>
          <a:noFill/>
          <a:ln w="47625">
            <a:solidFill>
              <a:srgbClr val="2F6FDE"/>
            </a:solidFill>
            <a:prstDash val="solid"/>
          </a:ln>
        </p:spPr>
      </p:sp>
      <p:sp>
        <p:nvSpPr>
          <p:cNvPr id="19" name="Shape 17"/>
          <p:cNvSpPr/>
          <p:nvPr/>
        </p:nvSpPr>
        <p:spPr>
          <a:xfrm>
            <a:off x="3877628" y="2876270"/>
            <a:ext cx="450532" cy="0"/>
          </a:xfrm>
          <a:prstGeom prst="line">
            <a:avLst/>
          </a:prstGeom>
          <a:noFill/>
          <a:ln w="47625">
            <a:solidFill>
              <a:srgbClr val="0F9D8A"/>
            </a:solidFill>
            <a:prstDash val="solid"/>
          </a:ln>
        </p:spPr>
      </p:sp>
      <p:sp>
        <p:nvSpPr>
          <p:cNvPr id="20" name="Shape 18"/>
          <p:cNvSpPr/>
          <p:nvPr/>
        </p:nvSpPr>
        <p:spPr>
          <a:xfrm>
            <a:off x="8839200" y="2876270"/>
            <a:ext cx="1028700" cy="0"/>
          </a:xfrm>
          <a:prstGeom prst="line">
            <a:avLst/>
          </a:prstGeom>
          <a:noFill/>
          <a:ln w="47625">
            <a:solidFill>
              <a:srgbClr val="0F9D8A"/>
            </a:solidFill>
            <a:prstDash val="solid"/>
          </a:ln>
        </p:spPr>
      </p:sp>
      <p:sp>
        <p:nvSpPr>
          <p:cNvPr id="21" name="Shape 19"/>
          <p:cNvSpPr/>
          <p:nvPr/>
        </p:nvSpPr>
        <p:spPr>
          <a:xfrm>
            <a:off x="4269105" y="3491753"/>
            <a:ext cx="459105" cy="0"/>
          </a:xfrm>
          <a:prstGeom prst="line">
            <a:avLst/>
          </a:prstGeom>
          <a:noFill/>
          <a:ln w="47625">
            <a:solidFill>
              <a:srgbClr val="B5541A"/>
            </a:solidFill>
            <a:prstDash val="solid"/>
          </a:ln>
        </p:spPr>
      </p:sp>
      <p:sp>
        <p:nvSpPr>
          <p:cNvPr id="22" name="Shape 20"/>
          <p:cNvSpPr/>
          <p:nvPr/>
        </p:nvSpPr>
        <p:spPr>
          <a:xfrm>
            <a:off x="9467850" y="3491753"/>
            <a:ext cx="1504950" cy="0"/>
          </a:xfrm>
          <a:prstGeom prst="line">
            <a:avLst/>
          </a:prstGeom>
          <a:noFill/>
          <a:ln w="47625">
            <a:solidFill>
              <a:srgbClr val="B5541A"/>
            </a:solidFill>
            <a:prstDash val="solid"/>
          </a:ln>
        </p:spPr>
      </p:sp>
      <p:sp>
        <p:nvSpPr>
          <p:cNvPr id="23" name="Shape 21"/>
          <p:cNvSpPr/>
          <p:nvPr/>
        </p:nvSpPr>
        <p:spPr>
          <a:xfrm>
            <a:off x="3808095" y="2165537"/>
            <a:ext cx="190500" cy="190500"/>
          </a:xfrm>
          <a:prstGeom prst="ellipse">
            <a:avLst/>
          </a:prstGeom>
          <a:solidFill>
            <a:srgbClr val="2F6FDE"/>
          </a:solidFill>
          <a:ln w="24130">
            <a:solidFill>
              <a:srgbClr val="FFFFFF"/>
            </a:solidFill>
            <a:prstDash val="solid"/>
          </a:ln>
        </p:spPr>
      </p:sp>
      <p:sp>
        <p:nvSpPr>
          <p:cNvPr id="24" name="Shape 22"/>
          <p:cNvSpPr/>
          <p:nvPr/>
        </p:nvSpPr>
        <p:spPr>
          <a:xfrm>
            <a:off x="9048750" y="2165537"/>
            <a:ext cx="190500" cy="190500"/>
          </a:xfrm>
          <a:prstGeom prst="ellipse">
            <a:avLst/>
          </a:prstGeom>
          <a:solidFill>
            <a:srgbClr val="2F6FDE"/>
          </a:solidFill>
          <a:ln w="24130">
            <a:solidFill>
              <a:srgbClr val="FFFFFF"/>
            </a:solidFill>
            <a:prstDash val="solid"/>
          </a:ln>
        </p:spPr>
      </p:sp>
      <p:sp>
        <p:nvSpPr>
          <p:cNvPr id="25" name="Shape 23"/>
          <p:cNvSpPr/>
          <p:nvPr/>
        </p:nvSpPr>
        <p:spPr>
          <a:xfrm>
            <a:off x="4015740" y="2781020"/>
            <a:ext cx="190500" cy="190500"/>
          </a:xfrm>
          <a:prstGeom prst="ellipse">
            <a:avLst/>
          </a:prstGeom>
          <a:solidFill>
            <a:srgbClr val="0F9D8A"/>
          </a:solidFill>
          <a:ln w="24130">
            <a:solidFill>
              <a:srgbClr val="FFFFFF"/>
            </a:solidFill>
            <a:prstDash val="solid"/>
          </a:ln>
        </p:spPr>
      </p:sp>
      <p:sp>
        <p:nvSpPr>
          <p:cNvPr id="26" name="Shape 24"/>
          <p:cNvSpPr/>
          <p:nvPr/>
        </p:nvSpPr>
        <p:spPr>
          <a:xfrm>
            <a:off x="9258300" y="2781020"/>
            <a:ext cx="190500" cy="190500"/>
          </a:xfrm>
          <a:prstGeom prst="ellipse">
            <a:avLst/>
          </a:prstGeom>
          <a:solidFill>
            <a:srgbClr val="0F9D8A"/>
          </a:solidFill>
          <a:ln w="24130">
            <a:solidFill>
              <a:srgbClr val="FFFFFF"/>
            </a:solidFill>
            <a:prstDash val="solid"/>
          </a:ln>
        </p:spPr>
      </p:sp>
      <p:sp>
        <p:nvSpPr>
          <p:cNvPr id="27" name="Shape 25"/>
          <p:cNvSpPr/>
          <p:nvPr/>
        </p:nvSpPr>
        <p:spPr>
          <a:xfrm>
            <a:off x="4399598" y="3396503"/>
            <a:ext cx="190500" cy="190500"/>
          </a:xfrm>
          <a:prstGeom prst="ellipse">
            <a:avLst/>
          </a:prstGeom>
          <a:solidFill>
            <a:srgbClr val="B5541A"/>
          </a:solidFill>
          <a:ln w="24130">
            <a:solidFill>
              <a:srgbClr val="FFFFFF"/>
            </a:solidFill>
            <a:prstDash val="solid"/>
          </a:ln>
        </p:spPr>
      </p:sp>
      <p:sp>
        <p:nvSpPr>
          <p:cNvPr id="28" name="Shape 26"/>
          <p:cNvSpPr/>
          <p:nvPr/>
        </p:nvSpPr>
        <p:spPr>
          <a:xfrm>
            <a:off x="10172700" y="3396503"/>
            <a:ext cx="190500" cy="190500"/>
          </a:xfrm>
          <a:prstGeom prst="ellipse">
            <a:avLst/>
          </a:prstGeom>
          <a:solidFill>
            <a:srgbClr val="B5541A"/>
          </a:solidFill>
          <a:ln w="24130">
            <a:solidFill>
              <a:srgbClr val="FFFFFF"/>
            </a:solidFill>
            <a:prstDash val="solid"/>
          </a:ln>
        </p:spPr>
      </p:sp>
      <p:sp>
        <p:nvSpPr>
          <p:cNvPr id="29" name="Text 27"/>
          <p:cNvSpPr txBox="1"/>
          <p:nvPr/>
        </p:nvSpPr>
        <p:spPr>
          <a:xfrm>
            <a:off x="685800" y="1210678"/>
            <a:ext cx="4000500" cy="260397"/>
          </a:xfrm>
          <a:prstGeom prst="rect">
            <a:avLst/>
          </a:prstGeom>
          <a:noFill/>
          <a:ln/>
        </p:spPr>
        <p:txBody>
          <a:bodyPr wrap="square" lIns="0" tIns="0" rIns="0" bIns="0" rtlCol="0" anchor="t"/>
          <a:lstStyle/>
          <a:p>
            <a:pPr algn="l" indent="0" marL="0">
              <a:buNone/>
            </a:pPr>
            <a:r>
              <a:rPr lang="en-US" sz="1640" b="1" dirty="0">
                <a:solidFill>
                  <a:srgbClr val="14213D"/>
                </a:solidFill>
              </a:rPr>
              <a:t>A. Is there information inside the model?</a:t>
            </a:r>
            <a:endParaRPr lang="en-US" sz="1640" dirty="0"/>
          </a:p>
        </p:txBody>
      </p:sp>
      <p:sp>
        <p:nvSpPr>
          <p:cNvPr id="30" name="Text 28"/>
          <p:cNvSpPr txBox="1"/>
          <p:nvPr/>
        </p:nvSpPr>
        <p:spPr>
          <a:xfrm>
            <a:off x="685800" y="1482911"/>
            <a:ext cx="4000500" cy="201216"/>
          </a:xfrm>
          <a:prstGeom prst="rect">
            <a:avLst/>
          </a:prstGeom>
          <a:noFill/>
          <a:ln/>
        </p:spPr>
        <p:txBody>
          <a:bodyPr wrap="square" lIns="0" tIns="0" rIns="0" bIns="0" rtlCol="0" anchor="t"/>
          <a:lstStyle/>
          <a:p>
            <a:pPr algn="l" indent="0" marL="0">
              <a:buNone/>
            </a:pPr>
            <a:r>
              <a:rPr lang="en-US" sz="1267" dirty="0">
                <a:solidFill>
                  <a:srgbClr val="5B6577"/>
                </a:solidFill>
              </a:rPr>
              <a:t>AUROC, 95% interval (1,600 examples): 0.5 is chance</a:t>
            </a:r>
            <a:endParaRPr lang="en-US" sz="1267" dirty="0"/>
          </a:p>
        </p:txBody>
      </p:sp>
      <p:sp>
        <p:nvSpPr>
          <p:cNvPr id="31" name="Text 29"/>
          <p:cNvSpPr txBox="1"/>
          <p:nvPr/>
        </p:nvSpPr>
        <p:spPr>
          <a:xfrm>
            <a:off x="6553200" y="1210678"/>
            <a:ext cx="4000500" cy="260397"/>
          </a:xfrm>
          <a:prstGeom prst="rect">
            <a:avLst/>
          </a:prstGeom>
          <a:noFill/>
          <a:ln/>
        </p:spPr>
        <p:txBody>
          <a:bodyPr wrap="square" lIns="0" tIns="0" rIns="0" bIns="0" rtlCol="0" anchor="t"/>
          <a:lstStyle/>
          <a:p>
            <a:pPr algn="l" indent="0" marL="0">
              <a:buNone/>
            </a:pPr>
            <a:r>
              <a:rPr lang="en-US" sz="1640" b="1" dirty="0">
                <a:solidFill>
                  <a:srgbClr val="14213D"/>
                </a:solidFill>
              </a:rPr>
              <a:t>B. Does using it beat the baseline?</a:t>
            </a:r>
            <a:endParaRPr lang="en-US" sz="1640" dirty="0"/>
          </a:p>
        </p:txBody>
      </p:sp>
      <p:sp>
        <p:nvSpPr>
          <p:cNvPr id="32" name="Text 30"/>
          <p:cNvSpPr txBox="1"/>
          <p:nvPr/>
        </p:nvSpPr>
        <p:spPr>
          <a:xfrm>
            <a:off x="6553200" y="1482911"/>
            <a:ext cx="4000500" cy="201216"/>
          </a:xfrm>
          <a:prstGeom prst="rect">
            <a:avLst/>
          </a:prstGeom>
          <a:noFill/>
          <a:ln/>
        </p:spPr>
        <p:txBody>
          <a:bodyPr wrap="square" lIns="0" tIns="0" rIns="0" bIns="0" rtlCol="0" anchor="t"/>
          <a:lstStyle/>
          <a:p>
            <a:pPr algn="l" indent="0" marL="0">
              <a:buNone/>
            </a:pPr>
            <a:r>
              <a:rPr lang="en-US" sz="1267" dirty="0">
                <a:solidFill>
                  <a:srgbClr val="5B6577"/>
                </a:solidFill>
              </a:rPr>
              <a:t>Balanced accuracy minus baseline (0.690), 770 examples</a:t>
            </a:r>
            <a:endParaRPr lang="en-US" sz="1267" dirty="0"/>
          </a:p>
        </p:txBody>
      </p:sp>
      <p:sp>
        <p:nvSpPr>
          <p:cNvPr id="33" name="Text 31"/>
          <p:cNvSpPr txBox="1"/>
          <p:nvPr/>
        </p:nvSpPr>
        <p:spPr>
          <a:xfrm>
            <a:off x="19050" y="3831216"/>
            <a:ext cx="4000500" cy="201216"/>
          </a:xfrm>
          <a:prstGeom prst="rect">
            <a:avLst/>
          </a:prstGeom>
          <a:noFill/>
          <a:ln/>
        </p:spPr>
        <p:txBody>
          <a:bodyPr wrap="square" lIns="0" tIns="0" rIns="0" bIns="0" rtlCol="0" anchor="t"/>
          <a:lstStyle/>
          <a:p>
            <a:pPr algn="ctr" indent="0" marL="0">
              <a:buNone/>
            </a:pPr>
            <a:r>
              <a:rPr lang="en-US" sz="1267" dirty="0">
                <a:solidFill>
                  <a:srgbClr val="5B6577"/>
                </a:solidFill>
              </a:rPr>
              <a:t>0.5</a:t>
            </a:r>
            <a:endParaRPr lang="en-US" sz="1267" dirty="0"/>
          </a:p>
        </p:txBody>
      </p:sp>
      <p:sp>
        <p:nvSpPr>
          <p:cNvPr id="34" name="Text 32"/>
          <p:cNvSpPr txBox="1"/>
          <p:nvPr/>
        </p:nvSpPr>
        <p:spPr>
          <a:xfrm>
            <a:off x="852488" y="3831216"/>
            <a:ext cx="4000500" cy="201216"/>
          </a:xfrm>
          <a:prstGeom prst="rect">
            <a:avLst/>
          </a:prstGeom>
          <a:noFill/>
          <a:ln/>
        </p:spPr>
        <p:txBody>
          <a:bodyPr wrap="square" lIns="0" tIns="0" rIns="0" bIns="0" rtlCol="0" anchor="t"/>
          <a:lstStyle/>
          <a:p>
            <a:pPr algn="ctr" indent="0" marL="0">
              <a:buNone/>
            </a:pPr>
            <a:r>
              <a:rPr lang="en-US" sz="1267" dirty="0">
                <a:solidFill>
                  <a:srgbClr val="5B6577"/>
                </a:solidFill>
              </a:rPr>
              <a:t>0.6</a:t>
            </a:r>
            <a:endParaRPr lang="en-US" sz="1267" dirty="0"/>
          </a:p>
        </p:txBody>
      </p:sp>
      <p:sp>
        <p:nvSpPr>
          <p:cNvPr id="35" name="Text 33"/>
          <p:cNvSpPr txBox="1"/>
          <p:nvPr/>
        </p:nvSpPr>
        <p:spPr>
          <a:xfrm>
            <a:off x="1685925" y="3831216"/>
            <a:ext cx="4000500" cy="201216"/>
          </a:xfrm>
          <a:prstGeom prst="rect">
            <a:avLst/>
          </a:prstGeom>
          <a:noFill/>
          <a:ln/>
        </p:spPr>
        <p:txBody>
          <a:bodyPr wrap="square" lIns="0" tIns="0" rIns="0" bIns="0" rtlCol="0" anchor="t"/>
          <a:lstStyle/>
          <a:p>
            <a:pPr algn="ctr" indent="0" marL="0">
              <a:buNone/>
            </a:pPr>
            <a:r>
              <a:rPr lang="en-US" sz="1267" dirty="0">
                <a:solidFill>
                  <a:srgbClr val="5B6577"/>
                </a:solidFill>
              </a:rPr>
              <a:t>0.7</a:t>
            </a:r>
            <a:endParaRPr lang="en-US" sz="1267" dirty="0"/>
          </a:p>
        </p:txBody>
      </p:sp>
      <p:sp>
        <p:nvSpPr>
          <p:cNvPr id="36" name="Text 34"/>
          <p:cNvSpPr txBox="1"/>
          <p:nvPr/>
        </p:nvSpPr>
        <p:spPr>
          <a:xfrm>
            <a:off x="2519363" y="3831216"/>
            <a:ext cx="4000500" cy="201216"/>
          </a:xfrm>
          <a:prstGeom prst="rect">
            <a:avLst/>
          </a:prstGeom>
          <a:noFill/>
          <a:ln/>
        </p:spPr>
        <p:txBody>
          <a:bodyPr wrap="square" lIns="0" tIns="0" rIns="0" bIns="0" rtlCol="0" anchor="t"/>
          <a:lstStyle/>
          <a:p>
            <a:pPr algn="ctr" indent="0" marL="0">
              <a:buNone/>
            </a:pPr>
            <a:r>
              <a:rPr lang="en-US" sz="1267" dirty="0">
                <a:solidFill>
                  <a:srgbClr val="5B6577"/>
                </a:solidFill>
              </a:rPr>
              <a:t>0.8</a:t>
            </a:r>
            <a:endParaRPr lang="en-US" sz="1267" dirty="0"/>
          </a:p>
        </p:txBody>
      </p:sp>
      <p:sp>
        <p:nvSpPr>
          <p:cNvPr id="37" name="Text 35"/>
          <p:cNvSpPr txBox="1"/>
          <p:nvPr/>
        </p:nvSpPr>
        <p:spPr>
          <a:xfrm>
            <a:off x="3352800" y="3831216"/>
            <a:ext cx="4000500" cy="201216"/>
          </a:xfrm>
          <a:prstGeom prst="rect">
            <a:avLst/>
          </a:prstGeom>
          <a:noFill/>
          <a:ln/>
        </p:spPr>
        <p:txBody>
          <a:bodyPr wrap="square" lIns="0" tIns="0" rIns="0" bIns="0" rtlCol="0" anchor="t"/>
          <a:lstStyle/>
          <a:p>
            <a:pPr algn="ctr" indent="0" marL="0">
              <a:buNone/>
            </a:pPr>
            <a:r>
              <a:rPr lang="en-US" sz="1267" dirty="0">
                <a:solidFill>
                  <a:srgbClr val="5B6577"/>
                </a:solidFill>
              </a:rPr>
              <a:t>0.9</a:t>
            </a:r>
            <a:endParaRPr lang="en-US" sz="1267" dirty="0"/>
          </a:p>
        </p:txBody>
      </p:sp>
      <p:sp>
        <p:nvSpPr>
          <p:cNvPr id="38" name="Text 36"/>
          <p:cNvSpPr txBox="1"/>
          <p:nvPr/>
        </p:nvSpPr>
        <p:spPr>
          <a:xfrm>
            <a:off x="2095500" y="1766980"/>
            <a:ext cx="4000500" cy="201216"/>
          </a:xfrm>
          <a:prstGeom prst="rect">
            <a:avLst/>
          </a:prstGeom>
          <a:noFill/>
          <a:ln/>
        </p:spPr>
        <p:txBody>
          <a:bodyPr wrap="square" lIns="0" tIns="0" rIns="0" bIns="0" rtlCol="0" anchor="t"/>
          <a:lstStyle/>
          <a:p>
            <a:pPr algn="l" indent="0" marL="0">
              <a:buNone/>
            </a:pPr>
            <a:r>
              <a:rPr lang="en-US" sz="1267" dirty="0">
                <a:solidFill>
                  <a:srgbClr val="5B6577"/>
                </a:solidFill>
              </a:rPr>
              <a:t>chance</a:t>
            </a:r>
            <a:endParaRPr lang="en-US" sz="1267" dirty="0"/>
          </a:p>
        </p:txBody>
      </p:sp>
      <p:sp>
        <p:nvSpPr>
          <p:cNvPr id="39" name="Text 37"/>
          <p:cNvSpPr txBox="1"/>
          <p:nvPr/>
        </p:nvSpPr>
        <p:spPr>
          <a:xfrm>
            <a:off x="6210300" y="3831216"/>
            <a:ext cx="4000500" cy="201216"/>
          </a:xfrm>
          <a:prstGeom prst="rect">
            <a:avLst/>
          </a:prstGeom>
          <a:noFill/>
          <a:ln/>
        </p:spPr>
        <p:txBody>
          <a:bodyPr wrap="square" lIns="0" tIns="0" rIns="0" bIns="0" rtlCol="0" anchor="t"/>
          <a:lstStyle/>
          <a:p>
            <a:pPr algn="ctr" indent="0" marL="0">
              <a:buNone/>
            </a:pPr>
            <a:r>
              <a:rPr lang="en-US" sz="1267" dirty="0">
                <a:solidFill>
                  <a:srgbClr val="5B6577"/>
                </a:solidFill>
              </a:rPr>
              <a:t>-0.08</a:t>
            </a:r>
            <a:endParaRPr lang="en-US" sz="1267" dirty="0"/>
          </a:p>
        </p:txBody>
      </p:sp>
      <p:sp>
        <p:nvSpPr>
          <p:cNvPr id="40" name="Text 38"/>
          <p:cNvSpPr txBox="1"/>
          <p:nvPr/>
        </p:nvSpPr>
        <p:spPr>
          <a:xfrm>
            <a:off x="6972300" y="3831216"/>
            <a:ext cx="4000500" cy="201216"/>
          </a:xfrm>
          <a:prstGeom prst="rect">
            <a:avLst/>
          </a:prstGeom>
          <a:noFill/>
          <a:ln/>
        </p:spPr>
        <p:txBody>
          <a:bodyPr wrap="square" lIns="0" tIns="0" rIns="0" bIns="0" rtlCol="0" anchor="t"/>
          <a:lstStyle/>
          <a:p>
            <a:pPr algn="ctr" indent="0" marL="0">
              <a:buNone/>
            </a:pPr>
            <a:r>
              <a:rPr lang="en-US" sz="1267" dirty="0">
                <a:solidFill>
                  <a:srgbClr val="5B6577"/>
                </a:solidFill>
              </a:rPr>
              <a:t>-0.04</a:t>
            </a:r>
            <a:endParaRPr lang="en-US" sz="1267" dirty="0"/>
          </a:p>
        </p:txBody>
      </p:sp>
      <p:sp>
        <p:nvSpPr>
          <p:cNvPr id="41" name="Text 39"/>
          <p:cNvSpPr txBox="1"/>
          <p:nvPr/>
        </p:nvSpPr>
        <p:spPr>
          <a:xfrm>
            <a:off x="7734300" y="3831216"/>
            <a:ext cx="4000500" cy="201216"/>
          </a:xfrm>
          <a:prstGeom prst="rect">
            <a:avLst/>
          </a:prstGeom>
          <a:noFill/>
          <a:ln/>
        </p:spPr>
        <p:txBody>
          <a:bodyPr wrap="square" lIns="0" tIns="0" rIns="0" bIns="0" rtlCol="0" anchor="t"/>
          <a:lstStyle/>
          <a:p>
            <a:pPr algn="ctr" indent="0" marL="0">
              <a:buNone/>
            </a:pPr>
            <a:r>
              <a:rPr lang="en-US" sz="1267" dirty="0">
                <a:solidFill>
                  <a:srgbClr val="5B6577"/>
                </a:solidFill>
              </a:rPr>
              <a:t>0</a:t>
            </a:r>
            <a:endParaRPr lang="en-US" sz="1267" dirty="0"/>
          </a:p>
        </p:txBody>
      </p:sp>
      <p:sp>
        <p:nvSpPr>
          <p:cNvPr id="42" name="Text 40"/>
          <p:cNvSpPr txBox="1"/>
          <p:nvPr/>
        </p:nvSpPr>
        <p:spPr>
          <a:xfrm>
            <a:off x="8496300" y="3831216"/>
            <a:ext cx="4000500" cy="201216"/>
          </a:xfrm>
          <a:prstGeom prst="rect">
            <a:avLst/>
          </a:prstGeom>
          <a:noFill/>
          <a:ln/>
        </p:spPr>
        <p:txBody>
          <a:bodyPr wrap="square" lIns="0" tIns="0" rIns="0" bIns="0" rtlCol="0" anchor="t"/>
          <a:lstStyle/>
          <a:p>
            <a:pPr algn="ctr" indent="0" marL="0">
              <a:buNone/>
            </a:pPr>
            <a:r>
              <a:rPr lang="en-US" sz="1267" dirty="0">
                <a:solidFill>
                  <a:srgbClr val="5B6577"/>
                </a:solidFill>
              </a:rPr>
              <a:t>+0.04</a:t>
            </a:r>
            <a:endParaRPr lang="en-US" sz="1267" dirty="0"/>
          </a:p>
        </p:txBody>
      </p:sp>
      <p:sp>
        <p:nvSpPr>
          <p:cNvPr id="43" name="Text 41"/>
          <p:cNvSpPr txBox="1"/>
          <p:nvPr/>
        </p:nvSpPr>
        <p:spPr>
          <a:xfrm>
            <a:off x="9258300" y="3831216"/>
            <a:ext cx="4000500" cy="201216"/>
          </a:xfrm>
          <a:prstGeom prst="rect">
            <a:avLst/>
          </a:prstGeom>
          <a:noFill/>
          <a:ln/>
        </p:spPr>
        <p:txBody>
          <a:bodyPr wrap="square" lIns="0" tIns="0" rIns="0" bIns="0" rtlCol="0" anchor="t"/>
          <a:lstStyle/>
          <a:p>
            <a:pPr algn="ctr" indent="0" marL="0">
              <a:buNone/>
            </a:pPr>
            <a:r>
              <a:rPr lang="en-US" sz="1267" dirty="0">
                <a:solidFill>
                  <a:srgbClr val="5B6577"/>
                </a:solidFill>
              </a:rPr>
              <a:t>+0.08</a:t>
            </a:r>
            <a:endParaRPr lang="en-US" sz="1267" dirty="0"/>
          </a:p>
        </p:txBody>
      </p:sp>
      <p:sp>
        <p:nvSpPr>
          <p:cNvPr id="44" name="Text 42"/>
          <p:cNvSpPr txBox="1"/>
          <p:nvPr/>
        </p:nvSpPr>
        <p:spPr>
          <a:xfrm>
            <a:off x="9810750" y="1766980"/>
            <a:ext cx="4000500" cy="201216"/>
          </a:xfrm>
          <a:prstGeom prst="rect">
            <a:avLst/>
          </a:prstGeom>
          <a:noFill/>
          <a:ln/>
        </p:spPr>
        <p:txBody>
          <a:bodyPr wrap="square" lIns="0" tIns="0" rIns="0" bIns="0" rtlCol="0" anchor="t"/>
          <a:lstStyle/>
          <a:p>
            <a:pPr algn="l" indent="0" marL="0">
              <a:buNone/>
            </a:pPr>
            <a:r>
              <a:rPr lang="en-US" sz="1267" dirty="0">
                <a:solidFill>
                  <a:srgbClr val="5B6577"/>
                </a:solidFill>
              </a:rPr>
              <a:t>same as baseline</a:t>
            </a:r>
            <a:endParaRPr lang="en-US" sz="1267" dirty="0"/>
          </a:p>
        </p:txBody>
      </p:sp>
      <p:sp>
        <p:nvSpPr>
          <p:cNvPr id="45" name="Text 43"/>
          <p:cNvSpPr txBox="1"/>
          <p:nvPr/>
        </p:nvSpPr>
        <p:spPr>
          <a:xfrm>
            <a:off x="8210550" y="4077409"/>
            <a:ext cx="4000500" cy="201216"/>
          </a:xfrm>
          <a:prstGeom prst="rect">
            <a:avLst/>
          </a:prstGeom>
          <a:noFill/>
          <a:ln/>
        </p:spPr>
        <p:txBody>
          <a:bodyPr wrap="square" lIns="0" tIns="0" rIns="0" bIns="0" rtlCol="0" anchor="t"/>
          <a:lstStyle/>
          <a:p>
            <a:pPr algn="l" indent="0" marL="0">
              <a:buNone/>
            </a:pPr>
            <a:r>
              <a:rPr lang="en-US" sz="1267" dirty="0">
                <a:solidFill>
                  <a:srgbClr val="5B6577"/>
                </a:solidFill>
              </a:rPr>
              <a:t>worse</a:t>
            </a:r>
            <a:endParaRPr lang="en-US" sz="1267" dirty="0"/>
          </a:p>
        </p:txBody>
      </p:sp>
      <p:sp>
        <p:nvSpPr>
          <p:cNvPr id="46" name="Text 44"/>
          <p:cNvSpPr txBox="1"/>
          <p:nvPr/>
        </p:nvSpPr>
        <p:spPr>
          <a:xfrm>
            <a:off x="7258050" y="4077409"/>
            <a:ext cx="4000500" cy="201216"/>
          </a:xfrm>
          <a:prstGeom prst="rect">
            <a:avLst/>
          </a:prstGeom>
          <a:noFill/>
          <a:ln/>
        </p:spPr>
        <p:txBody>
          <a:bodyPr wrap="square" lIns="0" tIns="0" rIns="0" bIns="0" rtlCol="0" anchor="t"/>
          <a:lstStyle/>
          <a:p>
            <a:pPr algn="r" indent="0" marL="0">
              <a:buNone/>
            </a:pPr>
            <a:r>
              <a:rPr lang="en-US" sz="1267" dirty="0">
                <a:solidFill>
                  <a:srgbClr val="5B6577"/>
                </a:solidFill>
              </a:rPr>
              <a:t>better</a:t>
            </a:r>
            <a:endParaRPr lang="en-US" sz="1267" dirty="0"/>
          </a:p>
        </p:txBody>
      </p:sp>
      <p:sp>
        <p:nvSpPr>
          <p:cNvPr id="47" name="Text 45"/>
          <p:cNvSpPr txBox="1"/>
          <p:nvPr/>
        </p:nvSpPr>
        <p:spPr>
          <a:xfrm>
            <a:off x="685800" y="2052943"/>
            <a:ext cx="4000500" cy="248560"/>
          </a:xfrm>
          <a:prstGeom prst="rect">
            <a:avLst/>
          </a:prstGeom>
          <a:noFill/>
          <a:ln/>
        </p:spPr>
        <p:txBody>
          <a:bodyPr wrap="square" lIns="0" tIns="0" rIns="0" bIns="0" rtlCol="0" anchor="t"/>
          <a:lstStyle/>
          <a:p>
            <a:pPr algn="l" indent="0" marL="0">
              <a:buNone/>
            </a:pPr>
            <a:r>
              <a:rPr lang="en-US" sz="1566" b="1" dirty="0">
                <a:solidFill>
                  <a:srgbClr val="14213D"/>
                </a:solidFill>
              </a:rPr>
              <a:t>S1</a:t>
            </a:r>
            <a:endParaRPr lang="en-US" sz="1566" dirty="0"/>
          </a:p>
        </p:txBody>
      </p:sp>
      <p:sp>
        <p:nvSpPr>
          <p:cNvPr id="48" name="Text 46"/>
          <p:cNvSpPr txBox="1"/>
          <p:nvPr/>
        </p:nvSpPr>
        <p:spPr>
          <a:xfrm>
            <a:off x="685800" y="2296769"/>
            <a:ext cx="4000500" cy="189379"/>
          </a:xfrm>
          <a:prstGeom prst="rect">
            <a:avLst/>
          </a:prstGeom>
          <a:noFill/>
          <a:ln/>
        </p:spPr>
        <p:txBody>
          <a:bodyPr wrap="square" lIns="0" tIns="0" rIns="0" bIns="0" rtlCol="0" anchor="t"/>
          <a:lstStyle/>
          <a:p>
            <a:pPr algn="l" indent="0" marL="0">
              <a:buNone/>
            </a:pPr>
            <a:r>
              <a:rPr lang="en-US" sz="1193" dirty="0">
                <a:solidFill>
                  <a:srgbClr val="5B6577"/>
                </a:solidFill>
              </a:rPr>
              <a:t>refusal prob.</a:t>
            </a:r>
            <a:endParaRPr lang="en-US" sz="1193" dirty="0"/>
          </a:p>
        </p:txBody>
      </p:sp>
      <p:sp>
        <p:nvSpPr>
          <p:cNvPr id="49" name="Text 47"/>
          <p:cNvSpPr txBox="1"/>
          <p:nvPr/>
        </p:nvSpPr>
        <p:spPr>
          <a:xfrm>
            <a:off x="1903095" y="1919430"/>
            <a:ext cx="4000500" cy="224888"/>
          </a:xfrm>
          <a:prstGeom prst="rect">
            <a:avLst/>
          </a:prstGeom>
          <a:noFill/>
          <a:ln/>
        </p:spPr>
        <p:txBody>
          <a:bodyPr wrap="square" lIns="0" tIns="0" rIns="0" bIns="0" rtlCol="0" anchor="t"/>
          <a:lstStyle/>
          <a:p>
            <a:pPr algn="ctr" indent="0" marL="0">
              <a:buNone/>
            </a:pPr>
            <a:r>
              <a:rPr lang="en-US" sz="1417" b="1" dirty="0">
                <a:solidFill>
                  <a:srgbClr val="14213D"/>
                </a:solidFill>
              </a:rPr>
              <a:t>0.726</a:t>
            </a:r>
            <a:endParaRPr lang="en-US" sz="1417" dirty="0"/>
          </a:p>
        </p:txBody>
      </p:sp>
      <p:sp>
        <p:nvSpPr>
          <p:cNvPr id="50" name="Text 48"/>
          <p:cNvSpPr txBox="1"/>
          <p:nvPr/>
        </p:nvSpPr>
        <p:spPr>
          <a:xfrm>
            <a:off x="6553200" y="2052943"/>
            <a:ext cx="4000500" cy="248560"/>
          </a:xfrm>
          <a:prstGeom prst="rect">
            <a:avLst/>
          </a:prstGeom>
          <a:noFill/>
          <a:ln/>
        </p:spPr>
        <p:txBody>
          <a:bodyPr wrap="square" lIns="0" tIns="0" rIns="0" bIns="0" rtlCol="0" anchor="t"/>
          <a:lstStyle/>
          <a:p>
            <a:pPr algn="l" indent="0" marL="0">
              <a:buNone/>
            </a:pPr>
            <a:r>
              <a:rPr lang="en-US" sz="1566" b="1" dirty="0">
                <a:solidFill>
                  <a:srgbClr val="14213D"/>
                </a:solidFill>
              </a:rPr>
              <a:t>S1</a:t>
            </a:r>
            <a:endParaRPr lang="en-US" sz="1566" dirty="0"/>
          </a:p>
        </p:txBody>
      </p:sp>
      <p:sp>
        <p:nvSpPr>
          <p:cNvPr id="51" name="Text 49"/>
          <p:cNvSpPr txBox="1"/>
          <p:nvPr/>
        </p:nvSpPr>
        <p:spPr>
          <a:xfrm>
            <a:off x="6553200" y="2296769"/>
            <a:ext cx="4000500" cy="189379"/>
          </a:xfrm>
          <a:prstGeom prst="rect">
            <a:avLst/>
          </a:prstGeom>
          <a:noFill/>
          <a:ln/>
        </p:spPr>
        <p:txBody>
          <a:bodyPr wrap="square" lIns="0" tIns="0" rIns="0" bIns="0" rtlCol="0" anchor="t"/>
          <a:lstStyle/>
          <a:p>
            <a:pPr algn="l" indent="0" marL="0">
              <a:buNone/>
            </a:pPr>
            <a:r>
              <a:rPr lang="en-US" sz="1193" dirty="0">
                <a:solidFill>
                  <a:srgbClr val="5B6577"/>
                </a:solidFill>
              </a:rPr>
              <a:t>bal. acc. 0.658</a:t>
            </a:r>
            <a:endParaRPr lang="en-US" sz="1193" dirty="0"/>
          </a:p>
        </p:txBody>
      </p:sp>
      <p:sp>
        <p:nvSpPr>
          <p:cNvPr id="52" name="Text 50"/>
          <p:cNvSpPr txBox="1"/>
          <p:nvPr/>
        </p:nvSpPr>
        <p:spPr>
          <a:xfrm>
            <a:off x="7143750" y="1919430"/>
            <a:ext cx="4000500" cy="224888"/>
          </a:xfrm>
          <a:prstGeom prst="rect">
            <a:avLst/>
          </a:prstGeom>
          <a:noFill/>
          <a:ln/>
        </p:spPr>
        <p:txBody>
          <a:bodyPr wrap="square" lIns="0" tIns="0" rIns="0" bIns="0" rtlCol="0" anchor="t"/>
          <a:lstStyle/>
          <a:p>
            <a:pPr algn="ctr" indent="0" marL="0">
              <a:buNone/>
            </a:pPr>
            <a:r>
              <a:rPr lang="en-US" sz="1417" b="1" dirty="0">
                <a:solidFill>
                  <a:srgbClr val="14213D"/>
                </a:solidFill>
              </a:rPr>
              <a:t>-0.031</a:t>
            </a:r>
            <a:endParaRPr lang="en-US" sz="1417" dirty="0"/>
          </a:p>
        </p:txBody>
      </p:sp>
      <p:sp>
        <p:nvSpPr>
          <p:cNvPr id="53" name="Text 51"/>
          <p:cNvSpPr txBox="1"/>
          <p:nvPr/>
        </p:nvSpPr>
        <p:spPr>
          <a:xfrm>
            <a:off x="685800" y="2668426"/>
            <a:ext cx="4000500" cy="248560"/>
          </a:xfrm>
          <a:prstGeom prst="rect">
            <a:avLst/>
          </a:prstGeom>
          <a:noFill/>
          <a:ln/>
        </p:spPr>
        <p:txBody>
          <a:bodyPr wrap="square" lIns="0" tIns="0" rIns="0" bIns="0" rtlCol="0" anchor="t"/>
          <a:lstStyle/>
          <a:p>
            <a:pPr algn="l" indent="0" marL="0">
              <a:buNone/>
            </a:pPr>
            <a:r>
              <a:rPr lang="en-US" sz="1566" b="1" dirty="0">
                <a:solidFill>
                  <a:srgbClr val="14213D"/>
                </a:solidFill>
              </a:rPr>
              <a:t>S2</a:t>
            </a:r>
            <a:endParaRPr lang="en-US" sz="1566" dirty="0"/>
          </a:p>
        </p:txBody>
      </p:sp>
      <p:sp>
        <p:nvSpPr>
          <p:cNvPr id="54" name="Text 52"/>
          <p:cNvSpPr txBox="1"/>
          <p:nvPr/>
        </p:nvSpPr>
        <p:spPr>
          <a:xfrm>
            <a:off x="685800" y="2912252"/>
            <a:ext cx="4000500" cy="189379"/>
          </a:xfrm>
          <a:prstGeom prst="rect">
            <a:avLst/>
          </a:prstGeom>
          <a:noFill/>
          <a:ln/>
        </p:spPr>
        <p:txBody>
          <a:bodyPr wrap="square" lIns="0" tIns="0" rIns="0" bIns="0" rtlCol="0" anchor="t"/>
          <a:lstStyle/>
          <a:p>
            <a:pPr algn="l" indent="0" marL="0">
              <a:buNone/>
            </a:pPr>
            <a:r>
              <a:rPr lang="en-US" sz="1193" dirty="0">
                <a:solidFill>
                  <a:srgbClr val="5B6577"/>
                </a:solidFill>
              </a:rPr>
              <a:t>yes or no</a:t>
            </a:r>
            <a:endParaRPr lang="en-US" sz="1193" dirty="0"/>
          </a:p>
        </p:txBody>
      </p:sp>
      <p:sp>
        <p:nvSpPr>
          <p:cNvPr id="55" name="Text 53"/>
          <p:cNvSpPr txBox="1"/>
          <p:nvPr/>
        </p:nvSpPr>
        <p:spPr>
          <a:xfrm>
            <a:off x="2110740" y="2534913"/>
            <a:ext cx="4000500" cy="224888"/>
          </a:xfrm>
          <a:prstGeom prst="rect">
            <a:avLst/>
          </a:prstGeom>
          <a:noFill/>
          <a:ln/>
        </p:spPr>
        <p:txBody>
          <a:bodyPr wrap="square" lIns="0" tIns="0" rIns="0" bIns="0" rtlCol="0" anchor="t"/>
          <a:lstStyle/>
          <a:p>
            <a:pPr algn="ctr" indent="0" marL="0">
              <a:buNone/>
            </a:pPr>
            <a:r>
              <a:rPr lang="en-US" sz="1417" b="1" dirty="0">
                <a:solidFill>
                  <a:srgbClr val="14213D"/>
                </a:solidFill>
              </a:rPr>
              <a:t>0.751</a:t>
            </a:r>
            <a:endParaRPr lang="en-US" sz="1417" dirty="0"/>
          </a:p>
        </p:txBody>
      </p:sp>
      <p:sp>
        <p:nvSpPr>
          <p:cNvPr id="56" name="Text 54"/>
          <p:cNvSpPr txBox="1"/>
          <p:nvPr/>
        </p:nvSpPr>
        <p:spPr>
          <a:xfrm>
            <a:off x="6553200" y="2668426"/>
            <a:ext cx="4000500" cy="248560"/>
          </a:xfrm>
          <a:prstGeom prst="rect">
            <a:avLst/>
          </a:prstGeom>
          <a:noFill/>
          <a:ln/>
        </p:spPr>
        <p:txBody>
          <a:bodyPr wrap="square" lIns="0" tIns="0" rIns="0" bIns="0" rtlCol="0" anchor="t"/>
          <a:lstStyle/>
          <a:p>
            <a:pPr algn="l" indent="0" marL="0">
              <a:buNone/>
            </a:pPr>
            <a:r>
              <a:rPr lang="en-US" sz="1566" b="1" dirty="0">
                <a:solidFill>
                  <a:srgbClr val="14213D"/>
                </a:solidFill>
              </a:rPr>
              <a:t>S2</a:t>
            </a:r>
            <a:endParaRPr lang="en-US" sz="1566" dirty="0"/>
          </a:p>
        </p:txBody>
      </p:sp>
      <p:sp>
        <p:nvSpPr>
          <p:cNvPr id="57" name="Text 55"/>
          <p:cNvSpPr txBox="1"/>
          <p:nvPr/>
        </p:nvSpPr>
        <p:spPr>
          <a:xfrm>
            <a:off x="6553200" y="2912252"/>
            <a:ext cx="4000500" cy="189379"/>
          </a:xfrm>
          <a:prstGeom prst="rect">
            <a:avLst/>
          </a:prstGeom>
          <a:noFill/>
          <a:ln/>
        </p:spPr>
        <p:txBody>
          <a:bodyPr wrap="square" lIns="0" tIns="0" rIns="0" bIns="0" rtlCol="0" anchor="t"/>
          <a:lstStyle/>
          <a:p>
            <a:pPr algn="l" indent="0" marL="0">
              <a:buNone/>
            </a:pPr>
            <a:r>
              <a:rPr lang="en-US" sz="1193" dirty="0">
                <a:solidFill>
                  <a:srgbClr val="5B6577"/>
                </a:solidFill>
              </a:rPr>
              <a:t>bal. acc. 0.669</a:t>
            </a:r>
            <a:endParaRPr lang="en-US" sz="1193" dirty="0"/>
          </a:p>
        </p:txBody>
      </p:sp>
      <p:sp>
        <p:nvSpPr>
          <p:cNvPr id="58" name="Text 56"/>
          <p:cNvSpPr txBox="1"/>
          <p:nvPr/>
        </p:nvSpPr>
        <p:spPr>
          <a:xfrm>
            <a:off x="7353300" y="2534913"/>
            <a:ext cx="4000500" cy="224888"/>
          </a:xfrm>
          <a:prstGeom prst="rect">
            <a:avLst/>
          </a:prstGeom>
          <a:noFill/>
          <a:ln/>
        </p:spPr>
        <p:txBody>
          <a:bodyPr wrap="square" lIns="0" tIns="0" rIns="0" bIns="0" rtlCol="0" anchor="t"/>
          <a:lstStyle/>
          <a:p>
            <a:pPr algn="ctr" indent="0" marL="0">
              <a:buNone/>
            </a:pPr>
            <a:r>
              <a:rPr lang="en-US" sz="1417" b="1" dirty="0">
                <a:solidFill>
                  <a:srgbClr val="14213D"/>
                </a:solidFill>
              </a:rPr>
              <a:t>-0.020</a:t>
            </a:r>
            <a:endParaRPr lang="en-US" sz="1417" dirty="0"/>
          </a:p>
        </p:txBody>
      </p:sp>
      <p:sp>
        <p:nvSpPr>
          <p:cNvPr id="59" name="Text 57"/>
          <p:cNvSpPr txBox="1"/>
          <p:nvPr/>
        </p:nvSpPr>
        <p:spPr>
          <a:xfrm>
            <a:off x="685800" y="3283909"/>
            <a:ext cx="4000500" cy="248560"/>
          </a:xfrm>
          <a:prstGeom prst="rect">
            <a:avLst/>
          </a:prstGeom>
          <a:noFill/>
          <a:ln/>
        </p:spPr>
        <p:txBody>
          <a:bodyPr wrap="square" lIns="0" tIns="0" rIns="0" bIns="0" rtlCol="0" anchor="t"/>
          <a:lstStyle/>
          <a:p>
            <a:pPr algn="l" indent="0" marL="0">
              <a:buNone/>
            </a:pPr>
            <a:r>
              <a:rPr lang="en-US" sz="1566" b="1" dirty="0">
                <a:solidFill>
                  <a:srgbClr val="14213D"/>
                </a:solidFill>
              </a:rPr>
              <a:t>S3</a:t>
            </a:r>
            <a:endParaRPr lang="en-US" sz="1566" dirty="0"/>
          </a:p>
        </p:txBody>
      </p:sp>
      <p:sp>
        <p:nvSpPr>
          <p:cNvPr id="60" name="Text 58"/>
          <p:cNvSpPr txBox="1"/>
          <p:nvPr/>
        </p:nvSpPr>
        <p:spPr>
          <a:xfrm>
            <a:off x="685800" y="3527735"/>
            <a:ext cx="4000500" cy="189379"/>
          </a:xfrm>
          <a:prstGeom prst="rect">
            <a:avLst/>
          </a:prstGeom>
          <a:noFill/>
          <a:ln/>
        </p:spPr>
        <p:txBody>
          <a:bodyPr wrap="square" lIns="0" tIns="0" rIns="0" bIns="0" rtlCol="0" anchor="t"/>
          <a:lstStyle/>
          <a:p>
            <a:pPr algn="l" indent="0" marL="0">
              <a:buNone/>
            </a:pPr>
            <a:r>
              <a:rPr lang="en-US" sz="1193" dirty="0">
                <a:solidFill>
                  <a:srgbClr val="5B6577"/>
                </a:solidFill>
              </a:rPr>
              <a:t>probe</a:t>
            </a:r>
            <a:endParaRPr lang="en-US" sz="1193" dirty="0"/>
          </a:p>
        </p:txBody>
      </p:sp>
      <p:sp>
        <p:nvSpPr>
          <p:cNvPr id="61" name="Text 59"/>
          <p:cNvSpPr txBox="1"/>
          <p:nvPr/>
        </p:nvSpPr>
        <p:spPr>
          <a:xfrm>
            <a:off x="2494598" y="3150397"/>
            <a:ext cx="4000500" cy="224888"/>
          </a:xfrm>
          <a:prstGeom prst="rect">
            <a:avLst/>
          </a:prstGeom>
          <a:noFill/>
          <a:ln/>
        </p:spPr>
        <p:txBody>
          <a:bodyPr wrap="square" lIns="0" tIns="0" rIns="0" bIns="0" rtlCol="0" anchor="t"/>
          <a:lstStyle/>
          <a:p>
            <a:pPr algn="ctr" indent="0" marL="0">
              <a:buNone/>
            </a:pPr>
            <a:r>
              <a:rPr lang="en-US" sz="1417" b="1" dirty="0">
                <a:solidFill>
                  <a:srgbClr val="14213D"/>
                </a:solidFill>
              </a:rPr>
              <a:t>0.797</a:t>
            </a:r>
            <a:endParaRPr lang="en-US" sz="1417" dirty="0"/>
          </a:p>
        </p:txBody>
      </p:sp>
      <p:sp>
        <p:nvSpPr>
          <p:cNvPr id="62" name="Text 60"/>
          <p:cNvSpPr txBox="1"/>
          <p:nvPr/>
        </p:nvSpPr>
        <p:spPr>
          <a:xfrm>
            <a:off x="6553200" y="3283909"/>
            <a:ext cx="4000500" cy="248560"/>
          </a:xfrm>
          <a:prstGeom prst="rect">
            <a:avLst/>
          </a:prstGeom>
          <a:noFill/>
          <a:ln/>
        </p:spPr>
        <p:txBody>
          <a:bodyPr wrap="square" lIns="0" tIns="0" rIns="0" bIns="0" rtlCol="0" anchor="t"/>
          <a:lstStyle/>
          <a:p>
            <a:pPr algn="l" indent="0" marL="0">
              <a:buNone/>
            </a:pPr>
            <a:r>
              <a:rPr lang="en-US" sz="1566" b="1" dirty="0">
                <a:solidFill>
                  <a:srgbClr val="14213D"/>
                </a:solidFill>
              </a:rPr>
              <a:t>S3</a:t>
            </a:r>
            <a:endParaRPr lang="en-US" sz="1566" dirty="0"/>
          </a:p>
        </p:txBody>
      </p:sp>
      <p:sp>
        <p:nvSpPr>
          <p:cNvPr id="63" name="Text 61"/>
          <p:cNvSpPr txBox="1"/>
          <p:nvPr/>
        </p:nvSpPr>
        <p:spPr>
          <a:xfrm>
            <a:off x="6553200" y="3527735"/>
            <a:ext cx="4000500" cy="189379"/>
          </a:xfrm>
          <a:prstGeom prst="rect">
            <a:avLst/>
          </a:prstGeom>
          <a:noFill/>
          <a:ln/>
        </p:spPr>
        <p:txBody>
          <a:bodyPr wrap="square" lIns="0" tIns="0" rIns="0" bIns="0" rtlCol="0" anchor="t"/>
          <a:lstStyle/>
          <a:p>
            <a:pPr algn="l" indent="0" marL="0">
              <a:buNone/>
            </a:pPr>
            <a:r>
              <a:rPr lang="en-US" sz="1193" dirty="0">
                <a:solidFill>
                  <a:srgbClr val="5B6577"/>
                </a:solidFill>
              </a:rPr>
              <a:t>bal. acc. 0.718</a:t>
            </a:r>
            <a:endParaRPr lang="en-US" sz="1193" dirty="0"/>
          </a:p>
        </p:txBody>
      </p:sp>
      <p:sp>
        <p:nvSpPr>
          <p:cNvPr id="64" name="Text 62"/>
          <p:cNvSpPr txBox="1"/>
          <p:nvPr/>
        </p:nvSpPr>
        <p:spPr>
          <a:xfrm>
            <a:off x="8267700" y="3150397"/>
            <a:ext cx="4000500" cy="224888"/>
          </a:xfrm>
          <a:prstGeom prst="rect">
            <a:avLst/>
          </a:prstGeom>
          <a:noFill/>
          <a:ln/>
        </p:spPr>
        <p:txBody>
          <a:bodyPr wrap="square" lIns="0" tIns="0" rIns="0" bIns="0" rtlCol="0" anchor="t"/>
          <a:lstStyle/>
          <a:p>
            <a:pPr algn="ctr" indent="0" marL="0">
              <a:buNone/>
            </a:pPr>
            <a:r>
              <a:rPr lang="en-US" sz="1417" b="1" dirty="0">
                <a:solidFill>
                  <a:srgbClr val="14213D"/>
                </a:solidFill>
              </a:rPr>
              <a:t>+0.028</a:t>
            </a:r>
            <a:endParaRPr lang="en-US" sz="1417" dirty="0"/>
          </a:p>
        </p:txBody>
      </p:sp>
      <p:sp>
        <p:nvSpPr>
          <p:cNvPr id="65" name="Text 63"/>
          <p:cNvSpPr txBox="1"/>
          <p:nvPr/>
        </p:nvSpPr>
        <p:spPr>
          <a:xfrm>
            <a:off x="685800" y="4438650"/>
            <a:ext cx="10820400" cy="476250"/>
          </a:xfrm>
          <a:prstGeom prst="rect">
            <a:avLst/>
          </a:prstGeom>
          <a:noFill/>
          <a:ln/>
        </p:spPr>
        <p:txBody>
          <a:bodyPr wrap="square" lIns="0" tIns="0" rIns="0" bIns="0" rtlCol="0" anchor="ctr"/>
          <a:lstStyle/>
          <a:p>
            <a:pPr algn="ctr" indent="0" marL="0">
              <a:buNone/>
            </a:pPr>
            <a:r>
              <a:rPr lang="en-US" sz="3300" b="1" dirty="0">
                <a:solidFill>
                  <a:schemeClr val="accent2"/>
                </a:solidFill>
                <a:latin typeface="+mj-lt" pitchFamily="34" charset="0"/>
                <a:ea typeface="+mj-lt" pitchFamily="34" charset="-122"/>
                <a:cs typeface="+mj-lt" pitchFamily="34" charset="-120"/>
              </a:rPr>
              <a:t>Decodable</a:t>
            </a:r>
            <a:r>
              <a:rPr lang="en-US" sz="3300" b="1" dirty="0">
                <a:solidFill>
                  <a:schemeClr val="accent1"/>
                </a:solidFill>
                <a:latin typeface="+mj-lt" pitchFamily="34" charset="0"/>
                <a:ea typeface="+mj-lt" pitchFamily="34" charset="-122"/>
                <a:cs typeface="+mj-lt" pitchFamily="34" charset="-120"/>
              </a:rPr>
              <a:t>  ≠  </a:t>
            </a:r>
            <a:r>
              <a:rPr lang="en-US" sz="3300" b="1" dirty="0">
                <a:solidFill>
                  <a:schemeClr val="tx1"/>
                </a:solidFill>
                <a:latin typeface="+mj-lt" pitchFamily="34" charset="0"/>
                <a:ea typeface="+mj-lt" pitchFamily="34" charset="-122"/>
                <a:cs typeface="+mj-lt" pitchFamily="34" charset="-120"/>
              </a:rPr>
              <a:t>Deployable</a:t>
            </a:r>
            <a:endParaRPr lang="en-US" sz="3300" dirty="0"/>
          </a:p>
        </p:txBody>
      </p:sp>
      <p:sp>
        <p:nvSpPr>
          <p:cNvPr id="66" name="Shape 64"/>
          <p:cNvSpPr/>
          <p:nvPr/>
        </p:nvSpPr>
        <p:spPr>
          <a:xfrm>
            <a:off x="685800" y="4991100"/>
            <a:ext cx="3419475" cy="0"/>
          </a:xfrm>
          <a:prstGeom prst="line">
            <a:avLst/>
          </a:prstGeom>
          <a:noFill/>
          <a:ln w="27940">
            <a:solidFill>
              <a:schemeClr val="tx1"/>
            </a:solidFill>
            <a:prstDash val="solid"/>
          </a:ln>
        </p:spPr>
      </p:sp>
      <p:sp>
        <p:nvSpPr>
          <p:cNvPr id="67" name="Text 65"/>
          <p:cNvSpPr txBox="1"/>
          <p:nvPr/>
        </p:nvSpPr>
        <p:spPr>
          <a:xfrm>
            <a:off x="685800" y="5086350"/>
            <a:ext cx="3419475" cy="247650"/>
          </a:xfrm>
          <a:prstGeom prst="rect">
            <a:avLst/>
          </a:prstGeom>
          <a:noFill/>
          <a:ln/>
        </p:spPr>
        <p:txBody>
          <a:bodyPr wrap="square" lIns="0" tIns="0" rIns="0" bIns="0" rtlCol="0" anchor="t"/>
          <a:lstStyle/>
          <a:p>
            <a:pPr indent="0" marL="0">
              <a:buNone/>
            </a:pPr>
            <a:r>
              <a:rPr lang="en-US" sz="1575" b="1" dirty="0">
                <a:solidFill>
                  <a:schemeClr val="tx1"/>
                </a:solidFill>
              </a:rPr>
              <a:t>We can say</a:t>
            </a:r>
            <a:endParaRPr lang="en-US" sz="1575" dirty="0"/>
          </a:p>
        </p:txBody>
      </p:sp>
      <p:sp>
        <p:nvSpPr>
          <p:cNvPr id="68" name="Text 66"/>
          <p:cNvSpPr txBox="1"/>
          <p:nvPr/>
        </p:nvSpPr>
        <p:spPr>
          <a:xfrm>
            <a:off x="685800" y="5391150"/>
            <a:ext cx="3419475" cy="990600"/>
          </a:xfrm>
          <a:prstGeom prst="rect">
            <a:avLst/>
          </a:prstGeom>
          <a:noFill/>
          <a:ln/>
        </p:spPr>
        <p:txBody>
          <a:bodyPr wrap="square" lIns="0" tIns="0" rIns="0" bIns="0" rtlCol="0" anchor="t"/>
          <a:lstStyle/>
          <a:p>
            <a:pPr marL="177800" indent="-177800">
              <a:spcAft>
                <a:spcPts val="600"/>
              </a:spcAft>
              <a:buSzPct val="100000"/>
              <a:buChar char="•"/>
            </a:pPr>
            <a:r>
              <a:rPr lang="en-US" sz="1275" dirty="0">
                <a:solidFill>
                  <a:schemeClr val="tx1"/>
                </a:solidFill>
              </a:rPr>
              <a:t>The model's scores and hidden states carry real information about when to refuse.</a:t>
            </a:r>
            <a:endParaRPr lang="en-US" sz="1275" dirty="0"/>
          </a:p>
          <a:p>
            <a:pPr marL="177800" indent="-177800">
              <a:spcAft>
                <a:spcPts val="600"/>
              </a:spcAft>
              <a:buSzPct val="100000"/>
              <a:buChar char="•"/>
            </a:pPr>
            <a:r>
              <a:rPr lang="en-US" sz="1275" dirty="0">
                <a:solidFill>
                  <a:schemeClr val="tx1"/>
                </a:solidFill>
              </a:rPr>
              <a:t>Asking it to diagnose first backfires.</a:t>
            </a:r>
            <a:endParaRPr lang="en-US" sz="1275" dirty="0"/>
          </a:p>
        </p:txBody>
      </p:sp>
      <p:sp>
        <p:nvSpPr>
          <p:cNvPr id="69" name="Shape 67"/>
          <p:cNvSpPr/>
          <p:nvPr/>
        </p:nvSpPr>
        <p:spPr>
          <a:xfrm>
            <a:off x="4391025" y="4991100"/>
            <a:ext cx="3419475" cy="0"/>
          </a:xfrm>
          <a:prstGeom prst="line">
            <a:avLst/>
          </a:prstGeom>
          <a:noFill/>
          <a:ln w="27940">
            <a:solidFill>
              <a:schemeClr val="tx1"/>
            </a:solidFill>
            <a:prstDash val="solid"/>
          </a:ln>
        </p:spPr>
      </p:sp>
      <p:sp>
        <p:nvSpPr>
          <p:cNvPr id="70" name="Text 68"/>
          <p:cNvSpPr txBox="1"/>
          <p:nvPr/>
        </p:nvSpPr>
        <p:spPr>
          <a:xfrm>
            <a:off x="4391025" y="5086350"/>
            <a:ext cx="3419475" cy="247650"/>
          </a:xfrm>
          <a:prstGeom prst="rect">
            <a:avLst/>
          </a:prstGeom>
          <a:noFill/>
          <a:ln/>
        </p:spPr>
        <p:txBody>
          <a:bodyPr wrap="square" lIns="0" tIns="0" rIns="0" bIns="0" rtlCol="0" anchor="t"/>
          <a:lstStyle/>
          <a:p>
            <a:pPr indent="0" marL="0">
              <a:buNone/>
            </a:pPr>
            <a:r>
              <a:rPr lang="en-US" sz="1575" b="1" dirty="0">
                <a:solidFill>
                  <a:schemeClr val="tx1"/>
                </a:solidFill>
              </a:rPr>
              <a:t>We cannot say</a:t>
            </a:r>
            <a:endParaRPr lang="en-US" sz="1575" dirty="0"/>
          </a:p>
        </p:txBody>
      </p:sp>
      <p:sp>
        <p:nvSpPr>
          <p:cNvPr id="71" name="Text 69"/>
          <p:cNvSpPr txBox="1"/>
          <p:nvPr/>
        </p:nvSpPr>
        <p:spPr>
          <a:xfrm>
            <a:off x="4391025" y="5391150"/>
            <a:ext cx="3419475" cy="990600"/>
          </a:xfrm>
          <a:prstGeom prst="rect">
            <a:avLst/>
          </a:prstGeom>
          <a:noFill/>
          <a:ln/>
        </p:spPr>
        <p:txBody>
          <a:bodyPr wrap="square" lIns="0" tIns="0" rIns="0" bIns="0" rtlCol="0" anchor="t"/>
          <a:lstStyle/>
          <a:p>
            <a:pPr marL="177800" indent="-177800">
              <a:spcAft>
                <a:spcPts val="600"/>
              </a:spcAft>
              <a:buSzPct val="100000"/>
              <a:buChar char="•"/>
            </a:pPr>
            <a:r>
              <a:rPr lang="en-US" sz="1275" dirty="0">
                <a:solidFill>
                  <a:schemeClr val="tx1"/>
                </a:solidFill>
              </a:rPr>
              <a:t>That any rule beats the baseline (probe interval −0.014 to +0.065).</a:t>
            </a:r>
            <a:endParaRPr lang="en-US" sz="1275" dirty="0"/>
          </a:p>
          <a:p>
            <a:pPr marL="177800" indent="-177800">
              <a:spcAft>
                <a:spcPts val="600"/>
              </a:spcAft>
              <a:buSzPct val="100000"/>
              <a:buChar char="•"/>
            </a:pPr>
            <a:r>
              <a:rPr lang="en-US" sz="1275" dirty="0">
                <a:solidFill>
                  <a:schemeClr val="tx1"/>
                </a:solidFill>
              </a:rPr>
              <a:t>Why the model answers "clear", or that this holds for other models.</a:t>
            </a:r>
            <a:endParaRPr lang="en-US" sz="1275" dirty="0"/>
          </a:p>
        </p:txBody>
      </p:sp>
      <p:sp>
        <p:nvSpPr>
          <p:cNvPr id="72" name="Shape 70"/>
          <p:cNvSpPr/>
          <p:nvPr/>
        </p:nvSpPr>
        <p:spPr>
          <a:xfrm>
            <a:off x="8086725" y="4991100"/>
            <a:ext cx="3419475" cy="0"/>
          </a:xfrm>
          <a:prstGeom prst="line">
            <a:avLst/>
          </a:prstGeom>
          <a:noFill/>
          <a:ln w="27940">
            <a:solidFill>
              <a:schemeClr val="tx1"/>
            </a:solidFill>
            <a:prstDash val="solid"/>
          </a:ln>
        </p:spPr>
      </p:sp>
      <p:sp>
        <p:nvSpPr>
          <p:cNvPr id="73" name="Text 71"/>
          <p:cNvSpPr txBox="1"/>
          <p:nvPr/>
        </p:nvSpPr>
        <p:spPr>
          <a:xfrm>
            <a:off x="8086725" y="5086350"/>
            <a:ext cx="3419475" cy="247650"/>
          </a:xfrm>
          <a:prstGeom prst="rect">
            <a:avLst/>
          </a:prstGeom>
          <a:noFill/>
          <a:ln/>
        </p:spPr>
        <p:txBody>
          <a:bodyPr wrap="square" lIns="0" tIns="0" rIns="0" bIns="0" rtlCol="0" anchor="t"/>
          <a:lstStyle/>
          <a:p>
            <a:pPr indent="0" marL="0">
              <a:buNone/>
            </a:pPr>
            <a:r>
              <a:rPr lang="en-US" sz="1575" b="1" dirty="0">
                <a:solidFill>
                  <a:schemeClr val="tx1"/>
                </a:solidFill>
              </a:rPr>
              <a:t>A full run needs</a:t>
            </a:r>
            <a:endParaRPr lang="en-US" sz="1575" dirty="0"/>
          </a:p>
        </p:txBody>
      </p:sp>
      <p:sp>
        <p:nvSpPr>
          <p:cNvPr id="74" name="Text 72"/>
          <p:cNvSpPr txBox="1"/>
          <p:nvPr/>
        </p:nvSpPr>
        <p:spPr>
          <a:xfrm>
            <a:off x="8086725" y="5391150"/>
            <a:ext cx="3419475" cy="990600"/>
          </a:xfrm>
          <a:prstGeom prst="rect">
            <a:avLst/>
          </a:prstGeom>
          <a:noFill/>
          <a:ln/>
        </p:spPr>
        <p:txBody>
          <a:bodyPr wrap="square" lIns="0" tIns="0" rIns="0" bIns="0" rtlCol="0" anchor="t"/>
          <a:lstStyle/>
          <a:p>
            <a:pPr marL="177800" indent="-177800">
              <a:spcAft>
                <a:spcPts val="600"/>
              </a:spcAft>
              <a:buSzPct val="100000"/>
              <a:buChar char="•"/>
            </a:pPr>
            <a:r>
              <a:rPr lang="en-US" sz="1275" dirty="0">
                <a:solidFill>
                  <a:schemeClr val="tx1"/>
                </a:solidFill>
              </a:rPr>
              <a:t>All 1,560 replies graded, and the 30-reply check of the judge.</a:t>
            </a:r>
            <a:endParaRPr lang="en-US" sz="1275" dirty="0"/>
          </a:p>
          <a:p>
            <a:pPr marL="177800" indent="-177800">
              <a:spcAft>
                <a:spcPts val="600"/>
              </a:spcAft>
              <a:buSzPct val="100000"/>
              <a:buChar char="•"/>
            </a:pPr>
            <a:r>
              <a:rPr lang="en-US" sz="1275" dirty="0">
                <a:solidFill>
                  <a:schemeClr val="tx1"/>
                </a:solidFill>
              </a:rPr>
              <a:t>More models, and the multi-document set.</a:t>
            </a:r>
            <a:endParaRPr lang="en-US" sz="1275"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body" hasCustomPrompt="1"/>
          </p:nvPr>
        </p:nvSpPr>
        <p:spPr>
          <a:xfrm>
            <a:off x="685800" y="390525"/>
            <a:ext cx="8572500" cy="190500"/>
          </a:xfrm>
          <a:prstGeom prst="rect">
            <a:avLst/>
          </a:prstGeom>
          <a:noFill/>
          <a:ln/>
        </p:spPr>
        <p:txBody>
          <a:bodyPr wrap="square" lIns="0" tIns="0" rIns="0" bIns="0" rtlCol="0" anchor="t"/>
          <a:lstStyle/>
          <a:p>
            <a:pPr indent="0" marL="0">
              <a:buNone/>
            </a:pPr>
            <a:r>
              <a:rPr lang="en-US" sz="1125" b="1" spc="140" kern="0" dirty="0">
                <a:solidFill>
                  <a:schemeClr val="accent1"/>
                </a:solidFill>
              </a:rPr>
              <a:t>REFERENCES</a:t>
            </a:r>
            <a:endParaRPr lang="en-US" sz="1125" dirty="0"/>
          </a:p>
        </p:txBody>
      </p:sp>
      <p:sp>
        <p:nvSpPr>
          <p:cNvPr id="3" name="references 1-7"/>
          <p:cNvSpPr txBox="1"/>
          <p:nvPr/>
        </p:nvSpPr>
        <p:spPr>
          <a:xfrm>
            <a:off x="685800" y="838200"/>
            <a:ext cx="3419475" cy="5191125"/>
          </a:xfrm>
          <a:prstGeom prst="rect">
            <a:avLst/>
          </a:prstGeom>
          <a:noFill/>
          <a:ln/>
        </p:spPr>
        <p:txBody>
          <a:bodyPr wrap="square" lIns="0" tIns="0" rIns="0" bIns="0" rtlCol="0" anchor="t"/>
          <a:lstStyle/>
          <a:p>
            <a:pPr indent="0" marL="0">
              <a:lnSpc>
                <a:spcPct val="100000"/>
              </a:lnSpc>
              <a:spcAft>
                <a:spcPts val="900"/>
              </a:spcAft>
              <a:buNone/>
            </a:pPr>
            <a:r>
              <a:rPr lang="en-US" sz="1238" dirty="0">
                <a:solidFill>
                  <a:schemeClr val="tx2"/>
                </a:solidFill>
              </a:rPr>
              <a:t>1  </a:t>
            </a:r>
            <a:r>
              <a:rPr lang="en-US" sz="1238" dirty="0">
                <a:solidFill>
                  <a:schemeClr val="tx1"/>
                </a:solidFill>
              </a:rPr>
              <a:t>A. Muhamed, L. F. R. Ribeiro, M. Dreyer, V. Smith, M. T. Diab. </a:t>
            </a:r>
            <a:r>
              <a:rPr lang="en-US" sz="1238" b="1" dirty="0">
                <a:solidFill>
                  <a:schemeClr val="tx1"/>
                </a:solidFill>
              </a:rPr>
              <a:t>RefusalBench: Generative Evaluation of Selective Refusal in Grounded Language Models.</a:t>
            </a:r>
            <a:r>
              <a:rPr lang="en-US" sz="1238" dirty="0">
                <a:solidFill>
                  <a:schemeClr val="tx1"/>
                </a:solidFill>
              </a:rPr>
              <a:t> EACL 2026, pp. 6811–6856. arXiv:2510.10390.</a:t>
            </a:r>
            <a:endParaRPr lang="en-US" sz="1238" dirty="0"/>
          </a:p>
          <a:p>
            <a:pPr indent="0" marL="0">
              <a:lnSpc>
                <a:spcPct val="100000"/>
              </a:lnSpc>
              <a:spcAft>
                <a:spcPts val="900"/>
              </a:spcAft>
              <a:buNone/>
            </a:pPr>
            <a:r>
              <a:rPr lang="en-US" sz="1238" dirty="0">
                <a:solidFill>
                  <a:schemeClr val="tx2"/>
                </a:solidFill>
              </a:rPr>
              <a:t>2  </a:t>
            </a:r>
            <a:r>
              <a:rPr lang="en-US" sz="1238" dirty="0">
                <a:solidFill>
                  <a:schemeClr val="tx1"/>
                </a:solidFill>
              </a:rPr>
              <a:t>J. Bai et al. </a:t>
            </a:r>
            <a:r>
              <a:rPr lang="en-US" sz="1238" b="1" dirty="0">
                <a:solidFill>
                  <a:schemeClr val="tx1"/>
                </a:solidFill>
              </a:rPr>
              <a:t>Qwen Technical Report.</a:t>
            </a:r>
            <a:r>
              <a:rPr lang="en-US" sz="1238" dirty="0">
                <a:solidFill>
                  <a:schemeClr val="tx1"/>
                </a:solidFill>
              </a:rPr>
              <a:t> arXiv:2309.16609, 2023.</a:t>
            </a:r>
            <a:endParaRPr lang="en-US" sz="1238" dirty="0"/>
          </a:p>
          <a:p>
            <a:pPr indent="0" marL="0">
              <a:lnSpc>
                <a:spcPct val="100000"/>
              </a:lnSpc>
              <a:spcAft>
                <a:spcPts val="900"/>
              </a:spcAft>
              <a:buNone/>
            </a:pPr>
            <a:r>
              <a:rPr lang="en-US" sz="1238" dirty="0">
                <a:solidFill>
                  <a:schemeClr val="tx2"/>
                </a:solidFill>
              </a:rPr>
              <a:t>3  </a:t>
            </a:r>
            <a:r>
              <a:rPr lang="en-US" sz="1238" dirty="0">
                <a:solidFill>
                  <a:schemeClr val="tx1"/>
                </a:solidFill>
              </a:rPr>
              <a:t>Qwen Team. </a:t>
            </a:r>
            <a:r>
              <a:rPr lang="en-US" sz="1238" b="1" dirty="0">
                <a:solidFill>
                  <a:schemeClr val="tx1"/>
                </a:solidFill>
              </a:rPr>
              <a:t>Introducing Qwen1.5.</a:t>
            </a:r>
            <a:r>
              <a:rPr lang="en-US" sz="1238" dirty="0">
                <a:solidFill>
                  <a:schemeClr val="tx1"/>
                </a:solidFill>
              </a:rPr>
              <a:t> Qwen blog, 2024.</a:t>
            </a:r>
            <a:endParaRPr lang="en-US" sz="1238" dirty="0"/>
          </a:p>
          <a:p>
            <a:pPr indent="0" marL="0">
              <a:lnSpc>
                <a:spcPct val="100000"/>
              </a:lnSpc>
              <a:spcAft>
                <a:spcPts val="900"/>
              </a:spcAft>
              <a:buNone/>
            </a:pPr>
            <a:r>
              <a:rPr lang="en-US" sz="1238" dirty="0">
                <a:solidFill>
                  <a:schemeClr val="tx2"/>
                </a:solidFill>
              </a:rPr>
              <a:t>4  </a:t>
            </a:r>
            <a:r>
              <a:rPr lang="en-US" sz="1238" dirty="0">
                <a:solidFill>
                  <a:schemeClr val="tx1"/>
                </a:solidFill>
              </a:rPr>
              <a:t>T. Kwiatkowski et al. </a:t>
            </a:r>
            <a:r>
              <a:rPr lang="en-US" sz="1238" b="1" dirty="0">
                <a:solidFill>
                  <a:schemeClr val="tx1"/>
                </a:solidFill>
              </a:rPr>
              <a:t>Natural Questions.</a:t>
            </a:r>
            <a:r>
              <a:rPr lang="en-US" sz="1238" dirty="0">
                <a:solidFill>
                  <a:schemeClr val="tx1"/>
                </a:solidFill>
              </a:rPr>
              <a:t> TACL 7:453–466, 2019.</a:t>
            </a:r>
            <a:endParaRPr lang="en-US" sz="1238" dirty="0"/>
          </a:p>
          <a:p>
            <a:pPr indent="0" marL="0">
              <a:lnSpc>
                <a:spcPct val="100000"/>
              </a:lnSpc>
              <a:spcAft>
                <a:spcPts val="900"/>
              </a:spcAft>
              <a:buNone/>
            </a:pPr>
            <a:r>
              <a:rPr lang="en-US" sz="1238" dirty="0">
                <a:solidFill>
                  <a:schemeClr val="tx2"/>
                </a:solidFill>
              </a:rPr>
              <a:t>5  </a:t>
            </a:r>
            <a:r>
              <a:rPr lang="en-US" sz="1238" dirty="0">
                <a:solidFill>
                  <a:schemeClr val="tx1"/>
                </a:solidFill>
              </a:rPr>
              <a:t>P. Lewis et al. </a:t>
            </a:r>
            <a:r>
              <a:rPr lang="en-US" sz="1238" b="1" dirty="0">
                <a:solidFill>
                  <a:schemeClr val="tx1"/>
                </a:solidFill>
              </a:rPr>
              <a:t>Retrieval-Augmented Generation for Knowledge-Intensive NLP Tasks.</a:t>
            </a:r>
            <a:r>
              <a:rPr lang="en-US" sz="1238" dirty="0">
                <a:solidFill>
                  <a:schemeClr val="tx1"/>
                </a:solidFill>
              </a:rPr>
              <a:t> NeurIPS 2020.</a:t>
            </a:r>
            <a:endParaRPr lang="en-US" sz="1238" dirty="0"/>
          </a:p>
          <a:p>
            <a:pPr indent="0" marL="0">
              <a:lnSpc>
                <a:spcPct val="100000"/>
              </a:lnSpc>
              <a:spcAft>
                <a:spcPts val="900"/>
              </a:spcAft>
              <a:buNone/>
            </a:pPr>
            <a:r>
              <a:rPr lang="en-US" sz="1238" dirty="0">
                <a:solidFill>
                  <a:schemeClr val="tx2"/>
                </a:solidFill>
              </a:rPr>
              <a:t>6  </a:t>
            </a:r>
            <a:r>
              <a:rPr lang="en-US" sz="1238" dirty="0">
                <a:solidFill>
                  <a:schemeClr val="tx1"/>
                </a:solidFill>
              </a:rPr>
              <a:t>P. Rajpurkar, R. Jia, P. Liang. </a:t>
            </a:r>
            <a:r>
              <a:rPr lang="en-US" sz="1238" b="1" dirty="0">
                <a:solidFill>
                  <a:schemeClr val="tx1"/>
                </a:solidFill>
              </a:rPr>
              <a:t>Know What You Don't Know: Unanswerable Questions for SQuAD.</a:t>
            </a:r>
            <a:r>
              <a:rPr lang="en-US" sz="1238" dirty="0">
                <a:solidFill>
                  <a:schemeClr val="tx1"/>
                </a:solidFill>
              </a:rPr>
              <a:t> ACL 2018.</a:t>
            </a:r>
            <a:endParaRPr lang="en-US" sz="1238" dirty="0"/>
          </a:p>
          <a:p>
            <a:pPr indent="0" marL="0">
              <a:lnSpc>
                <a:spcPct val="100000"/>
              </a:lnSpc>
              <a:spcAft>
                <a:spcPts val="900"/>
              </a:spcAft>
              <a:buNone/>
            </a:pPr>
            <a:r>
              <a:rPr lang="en-US" sz="1238" dirty="0">
                <a:solidFill>
                  <a:schemeClr val="tx2"/>
                </a:solidFill>
              </a:rPr>
              <a:t>7  </a:t>
            </a:r>
            <a:r>
              <a:rPr lang="en-US" sz="1238" dirty="0">
                <a:solidFill>
                  <a:schemeClr val="tx1"/>
                </a:solidFill>
              </a:rPr>
              <a:t>S. Kadavath et al. </a:t>
            </a:r>
            <a:r>
              <a:rPr lang="en-US" sz="1238" b="1" dirty="0">
                <a:solidFill>
                  <a:schemeClr val="tx1"/>
                </a:solidFill>
              </a:rPr>
              <a:t>Language Models (Mostly) Know What They Know.</a:t>
            </a:r>
            <a:r>
              <a:rPr lang="en-US" sz="1238" dirty="0">
                <a:solidFill>
                  <a:schemeClr val="tx1"/>
                </a:solidFill>
              </a:rPr>
              <a:t> arXiv:2207.05221, 2022.</a:t>
            </a:r>
            <a:endParaRPr lang="en-US" sz="1238" dirty="0"/>
          </a:p>
        </p:txBody>
      </p:sp>
      <p:sp>
        <p:nvSpPr>
          <p:cNvPr id="4" name="references 8-14"/>
          <p:cNvSpPr txBox="1"/>
          <p:nvPr/>
        </p:nvSpPr>
        <p:spPr>
          <a:xfrm>
            <a:off x="4391025" y="838200"/>
            <a:ext cx="3419475" cy="5191125"/>
          </a:xfrm>
          <a:prstGeom prst="rect">
            <a:avLst/>
          </a:prstGeom>
          <a:noFill/>
          <a:ln/>
        </p:spPr>
        <p:txBody>
          <a:bodyPr wrap="square" lIns="0" tIns="0" rIns="0" bIns="0" rtlCol="0" anchor="t"/>
          <a:lstStyle/>
          <a:p>
            <a:pPr indent="0" marL="0">
              <a:lnSpc>
                <a:spcPct val="100000"/>
              </a:lnSpc>
              <a:spcAft>
                <a:spcPts val="900"/>
              </a:spcAft>
              <a:buNone/>
            </a:pPr>
            <a:r>
              <a:rPr lang="en-US" sz="1238" dirty="0">
                <a:solidFill>
                  <a:schemeClr val="tx2"/>
                </a:solidFill>
              </a:rPr>
              <a:t>8  </a:t>
            </a:r>
            <a:r>
              <a:rPr lang="en-US" sz="1238" dirty="0">
                <a:solidFill>
                  <a:schemeClr val="tx1"/>
                </a:solidFill>
              </a:rPr>
              <a:t>C. Burns, H. Ye, D. Klein, J. Steinhardt. </a:t>
            </a:r>
            <a:r>
              <a:rPr lang="en-US" sz="1238" b="1" dirty="0">
                <a:solidFill>
                  <a:schemeClr val="tx1"/>
                </a:solidFill>
              </a:rPr>
              <a:t>Discovering Latent Knowledge in Language Models Without Supervision.</a:t>
            </a:r>
            <a:r>
              <a:rPr lang="en-US" sz="1238" dirty="0">
                <a:solidFill>
                  <a:schemeClr val="tx1"/>
                </a:solidFill>
              </a:rPr>
              <a:t> ICLR 2023.</a:t>
            </a:r>
            <a:endParaRPr lang="en-US" sz="1238" dirty="0"/>
          </a:p>
          <a:p>
            <a:pPr indent="0" marL="0">
              <a:lnSpc>
                <a:spcPct val="100000"/>
              </a:lnSpc>
              <a:spcAft>
                <a:spcPts val="900"/>
              </a:spcAft>
              <a:buNone/>
            </a:pPr>
            <a:r>
              <a:rPr lang="en-US" sz="1238" dirty="0">
                <a:solidFill>
                  <a:schemeClr val="tx2"/>
                </a:solidFill>
              </a:rPr>
              <a:t>9  </a:t>
            </a:r>
            <a:r>
              <a:rPr lang="en-US" sz="1238" dirty="0">
                <a:solidFill>
                  <a:schemeClr val="tx1"/>
                </a:solidFill>
              </a:rPr>
              <a:t>A. Azaria, T. Mitchell. </a:t>
            </a:r>
            <a:r>
              <a:rPr lang="en-US" sz="1238" b="1" dirty="0">
                <a:solidFill>
                  <a:schemeClr val="tx1"/>
                </a:solidFill>
              </a:rPr>
              <a:t>The Internal State of an LLM Knows When It's Lying.</a:t>
            </a:r>
            <a:r>
              <a:rPr lang="en-US" sz="1238" dirty="0">
                <a:solidFill>
                  <a:schemeClr val="tx1"/>
                </a:solidFill>
              </a:rPr>
              <a:t> arXiv:2304.13734, 2023.</a:t>
            </a:r>
            <a:endParaRPr lang="en-US" sz="1238" dirty="0"/>
          </a:p>
          <a:p>
            <a:pPr indent="0" marL="0">
              <a:lnSpc>
                <a:spcPct val="100000"/>
              </a:lnSpc>
              <a:spcAft>
                <a:spcPts val="900"/>
              </a:spcAft>
              <a:buNone/>
            </a:pPr>
            <a:r>
              <a:rPr lang="en-US" sz="1238" dirty="0">
                <a:solidFill>
                  <a:schemeClr val="tx2"/>
                </a:solidFill>
              </a:rPr>
              <a:t>10  </a:t>
            </a:r>
            <a:r>
              <a:rPr lang="en-US" sz="1238" dirty="0">
                <a:solidFill>
                  <a:schemeClr val="tx1"/>
                </a:solidFill>
              </a:rPr>
              <a:t>G. Alain, Y. Bengio. </a:t>
            </a:r>
            <a:r>
              <a:rPr lang="en-US" sz="1238" b="1" dirty="0">
                <a:solidFill>
                  <a:schemeClr val="tx1"/>
                </a:solidFill>
              </a:rPr>
              <a:t>Understanding Intermediate Layers Using Linear Classifier Probes.</a:t>
            </a:r>
            <a:r>
              <a:rPr lang="en-US" sz="1238" dirty="0">
                <a:solidFill>
                  <a:schemeClr val="tx1"/>
                </a:solidFill>
              </a:rPr>
              <a:t> arXiv:1610.01644, 2016.</a:t>
            </a:r>
            <a:endParaRPr lang="en-US" sz="1238" dirty="0"/>
          </a:p>
          <a:p>
            <a:pPr indent="0" marL="0">
              <a:lnSpc>
                <a:spcPct val="100000"/>
              </a:lnSpc>
              <a:spcAft>
                <a:spcPts val="900"/>
              </a:spcAft>
              <a:buNone/>
            </a:pPr>
            <a:r>
              <a:rPr lang="en-US" sz="1238" dirty="0">
                <a:solidFill>
                  <a:schemeClr val="tx2"/>
                </a:solidFill>
              </a:rPr>
              <a:t>11  </a:t>
            </a:r>
            <a:r>
              <a:rPr lang="en-US" sz="1238" dirty="0">
                <a:solidFill>
                  <a:schemeClr val="tx1"/>
                </a:solidFill>
              </a:rPr>
              <a:t>Y. Geifman, R. El-Yaniv. </a:t>
            </a:r>
            <a:r>
              <a:rPr lang="en-US" sz="1238" b="1" dirty="0">
                <a:solidFill>
                  <a:schemeClr val="tx1"/>
                </a:solidFill>
              </a:rPr>
              <a:t>Selective Classification for Deep Neural Networks.</a:t>
            </a:r>
            <a:r>
              <a:rPr lang="en-US" sz="1238" dirty="0">
                <a:solidFill>
                  <a:schemeClr val="tx1"/>
                </a:solidFill>
              </a:rPr>
              <a:t> arXiv:1705.08500, 2017.</a:t>
            </a:r>
            <a:endParaRPr lang="en-US" sz="1238" dirty="0"/>
          </a:p>
          <a:p>
            <a:pPr indent="0" marL="0">
              <a:lnSpc>
                <a:spcPct val="100000"/>
              </a:lnSpc>
              <a:spcAft>
                <a:spcPts val="900"/>
              </a:spcAft>
              <a:buNone/>
            </a:pPr>
            <a:r>
              <a:rPr lang="en-US" sz="1238" dirty="0">
                <a:solidFill>
                  <a:schemeClr val="tx2"/>
                </a:solidFill>
              </a:rPr>
              <a:t>12  </a:t>
            </a:r>
            <a:r>
              <a:rPr lang="en-US" sz="1238" dirty="0">
                <a:solidFill>
                  <a:schemeClr val="tx1"/>
                </a:solidFill>
              </a:rPr>
              <a:t>C. Guo, G. Pleiss, Y. Sun, K. Q. Weinberger. </a:t>
            </a:r>
            <a:r>
              <a:rPr lang="en-US" sz="1238" b="1" dirty="0">
                <a:solidFill>
                  <a:schemeClr val="tx1"/>
                </a:solidFill>
              </a:rPr>
              <a:t>On Calibration of Modern Neural Networks.</a:t>
            </a:r>
            <a:r>
              <a:rPr lang="en-US" sz="1238" dirty="0">
                <a:solidFill>
                  <a:schemeClr val="tx1"/>
                </a:solidFill>
              </a:rPr>
              <a:t> ICML 2017.</a:t>
            </a:r>
            <a:endParaRPr lang="en-US" sz="1238" dirty="0"/>
          </a:p>
          <a:p>
            <a:pPr indent="0" marL="0">
              <a:lnSpc>
                <a:spcPct val="100000"/>
              </a:lnSpc>
              <a:spcAft>
                <a:spcPts val="900"/>
              </a:spcAft>
              <a:buNone/>
            </a:pPr>
            <a:r>
              <a:rPr lang="en-US" sz="1238" dirty="0">
                <a:solidFill>
                  <a:schemeClr val="tx2"/>
                </a:solidFill>
              </a:rPr>
              <a:t>13  </a:t>
            </a:r>
            <a:r>
              <a:rPr lang="en-US" sz="1238" dirty="0">
                <a:solidFill>
                  <a:schemeClr val="tx1"/>
                </a:solidFill>
              </a:rPr>
              <a:t>T. Dettmers, A. Pagnoni, A. Holtzman, L. Zettlemoyer. </a:t>
            </a:r>
            <a:r>
              <a:rPr lang="en-US" sz="1238" b="1" dirty="0">
                <a:solidFill>
                  <a:schemeClr val="tx1"/>
                </a:solidFill>
              </a:rPr>
              <a:t>QLoRA: Efficient Finetuning of Quantized LLMs.</a:t>
            </a:r>
            <a:r>
              <a:rPr lang="en-US" sz="1238" dirty="0">
                <a:solidFill>
                  <a:schemeClr val="tx1"/>
                </a:solidFill>
              </a:rPr>
              <a:t> arXiv:2305.14314, 2023.</a:t>
            </a:r>
            <a:endParaRPr lang="en-US" sz="1238" dirty="0"/>
          </a:p>
          <a:p>
            <a:pPr indent="0" marL="0">
              <a:lnSpc>
                <a:spcPct val="100000"/>
              </a:lnSpc>
              <a:spcAft>
                <a:spcPts val="900"/>
              </a:spcAft>
              <a:buNone/>
            </a:pPr>
            <a:r>
              <a:rPr lang="en-US" sz="1238" dirty="0">
                <a:solidFill>
                  <a:schemeClr val="tx2"/>
                </a:solidFill>
              </a:rPr>
              <a:t>14  </a:t>
            </a:r>
            <a:r>
              <a:rPr lang="en-US" sz="1238" dirty="0">
                <a:solidFill>
                  <a:schemeClr val="tx1"/>
                </a:solidFill>
              </a:rPr>
              <a:t>T. Wolf et al. </a:t>
            </a:r>
            <a:r>
              <a:rPr lang="en-US" sz="1238" b="1" dirty="0">
                <a:solidFill>
                  <a:schemeClr val="tx1"/>
                </a:solidFill>
              </a:rPr>
              <a:t>Transformers: State-of-the-Art Natural Language Processing.</a:t>
            </a:r>
            <a:r>
              <a:rPr lang="en-US" sz="1238" dirty="0">
                <a:solidFill>
                  <a:schemeClr val="tx1"/>
                </a:solidFill>
              </a:rPr>
              <a:t> EMNLP System Demonstrations, 2020.</a:t>
            </a:r>
            <a:endParaRPr lang="en-US" sz="1238" dirty="0"/>
          </a:p>
        </p:txBody>
      </p:sp>
      <p:sp>
        <p:nvSpPr>
          <p:cNvPr id="5" name="references 15-21"/>
          <p:cNvSpPr txBox="1"/>
          <p:nvPr/>
        </p:nvSpPr>
        <p:spPr>
          <a:xfrm>
            <a:off x="8086725" y="838200"/>
            <a:ext cx="3419475" cy="5191125"/>
          </a:xfrm>
          <a:prstGeom prst="rect">
            <a:avLst/>
          </a:prstGeom>
          <a:noFill/>
          <a:ln/>
        </p:spPr>
        <p:txBody>
          <a:bodyPr wrap="square" lIns="0" tIns="0" rIns="0" bIns="0" rtlCol="0" anchor="t"/>
          <a:lstStyle/>
          <a:p>
            <a:pPr indent="0" marL="0">
              <a:lnSpc>
                <a:spcPct val="100000"/>
              </a:lnSpc>
              <a:spcAft>
                <a:spcPts val="900"/>
              </a:spcAft>
              <a:buNone/>
            </a:pPr>
            <a:r>
              <a:rPr lang="en-US" sz="1238" dirty="0">
                <a:solidFill>
                  <a:schemeClr val="tx2"/>
                </a:solidFill>
              </a:rPr>
              <a:t>15  </a:t>
            </a:r>
            <a:r>
              <a:rPr lang="en-US" sz="1238" dirty="0">
                <a:solidFill>
                  <a:schemeClr val="tx1"/>
                </a:solidFill>
              </a:rPr>
              <a:t>L. Zheng et al. </a:t>
            </a:r>
            <a:r>
              <a:rPr lang="en-US" sz="1238" b="1" dirty="0">
                <a:solidFill>
                  <a:schemeClr val="tx1"/>
                </a:solidFill>
              </a:rPr>
              <a:t>Judging LLM-as-a-Judge with MT-Bench and Chatbot Arena.</a:t>
            </a:r>
            <a:r>
              <a:rPr lang="en-US" sz="1238" dirty="0">
                <a:solidFill>
                  <a:schemeClr val="tx1"/>
                </a:solidFill>
              </a:rPr>
              <a:t> NeurIPS Datasets and Benchmarks, 2023.</a:t>
            </a:r>
            <a:endParaRPr lang="en-US" sz="1238" dirty="0"/>
          </a:p>
          <a:p>
            <a:pPr indent="0" marL="0">
              <a:lnSpc>
                <a:spcPct val="100000"/>
              </a:lnSpc>
              <a:spcAft>
                <a:spcPts val="900"/>
              </a:spcAft>
              <a:buNone/>
            </a:pPr>
            <a:r>
              <a:rPr lang="en-US" sz="1238" dirty="0">
                <a:solidFill>
                  <a:schemeClr val="tx2"/>
                </a:solidFill>
              </a:rPr>
              <a:t>16  </a:t>
            </a:r>
            <a:r>
              <a:rPr lang="en-US" sz="1238" dirty="0">
                <a:solidFill>
                  <a:schemeClr val="tx1"/>
                </a:solidFill>
              </a:rPr>
              <a:t>A. C. Cameron, J. B. Gelbach, D. L. Miller. </a:t>
            </a:r>
            <a:r>
              <a:rPr lang="en-US" sz="1238" b="1" dirty="0">
                <a:solidFill>
                  <a:schemeClr val="tx1"/>
                </a:solidFill>
              </a:rPr>
              <a:t>Bootstrap-Based Improvements for Inference with Clustered Errors.</a:t>
            </a:r>
            <a:r>
              <a:rPr lang="en-US" sz="1238" dirty="0">
                <a:solidFill>
                  <a:schemeClr val="tx1"/>
                </a:solidFill>
              </a:rPr>
              <a:t> Review of Economics and Statistics 90(3), 2008.</a:t>
            </a:r>
            <a:endParaRPr lang="en-US" sz="1238" dirty="0"/>
          </a:p>
          <a:p>
            <a:pPr indent="0" marL="0">
              <a:lnSpc>
                <a:spcPct val="100000"/>
              </a:lnSpc>
              <a:spcAft>
                <a:spcPts val="900"/>
              </a:spcAft>
              <a:buNone/>
            </a:pPr>
            <a:r>
              <a:rPr lang="en-US" sz="1238" dirty="0">
                <a:solidFill>
                  <a:schemeClr val="tx2"/>
                </a:solidFill>
              </a:rPr>
              <a:t>17  </a:t>
            </a:r>
            <a:r>
              <a:rPr lang="en-US" sz="1238" dirty="0">
                <a:solidFill>
                  <a:schemeClr val="tx1"/>
                </a:solidFill>
              </a:rPr>
              <a:t>B. Efron, R. J. Tibshirani. </a:t>
            </a:r>
            <a:r>
              <a:rPr lang="en-US" sz="1238" b="1" dirty="0">
                <a:solidFill>
                  <a:schemeClr val="tx1"/>
                </a:solidFill>
              </a:rPr>
              <a:t>An Introduction to the Bootstrap.</a:t>
            </a:r>
            <a:r>
              <a:rPr lang="en-US" sz="1238" dirty="0">
                <a:solidFill>
                  <a:schemeClr val="tx1"/>
                </a:solidFill>
              </a:rPr>
              <a:t> Chapman &amp; Hall, 1993.</a:t>
            </a:r>
            <a:endParaRPr lang="en-US" sz="1238" dirty="0"/>
          </a:p>
          <a:p>
            <a:pPr indent="0" marL="0">
              <a:lnSpc>
                <a:spcPct val="100000"/>
              </a:lnSpc>
              <a:spcAft>
                <a:spcPts val="900"/>
              </a:spcAft>
              <a:buNone/>
            </a:pPr>
            <a:r>
              <a:rPr lang="en-US" sz="1238" dirty="0">
                <a:solidFill>
                  <a:schemeClr val="tx2"/>
                </a:solidFill>
              </a:rPr>
              <a:t>18  </a:t>
            </a:r>
            <a:r>
              <a:rPr lang="en-US" sz="1238" dirty="0">
                <a:solidFill>
                  <a:schemeClr val="tx1"/>
                </a:solidFill>
              </a:rPr>
              <a:t>Z. Yin et al. </a:t>
            </a:r>
            <a:r>
              <a:rPr lang="en-US" sz="1238" b="1" dirty="0">
                <a:solidFill>
                  <a:schemeClr val="tx1"/>
                </a:solidFill>
              </a:rPr>
              <a:t>Do Large Language Models Know What They Don't Know?</a:t>
            </a:r>
            <a:r>
              <a:rPr lang="en-US" sz="1238" dirty="0">
                <a:solidFill>
                  <a:schemeClr val="tx1"/>
                </a:solidFill>
              </a:rPr>
              <a:t> Findings of ACL 2023.</a:t>
            </a:r>
            <a:endParaRPr lang="en-US" sz="1238" dirty="0"/>
          </a:p>
          <a:p>
            <a:pPr indent="0" marL="0">
              <a:lnSpc>
                <a:spcPct val="100000"/>
              </a:lnSpc>
              <a:spcAft>
                <a:spcPts val="900"/>
              </a:spcAft>
              <a:buNone/>
            </a:pPr>
            <a:r>
              <a:rPr lang="en-US" sz="1238" dirty="0">
                <a:solidFill>
                  <a:schemeClr val="tx2"/>
                </a:solidFill>
              </a:rPr>
              <a:t>19  </a:t>
            </a:r>
            <a:r>
              <a:rPr lang="en-US" sz="1238" dirty="0">
                <a:solidFill>
                  <a:schemeClr val="tx1"/>
                </a:solidFill>
              </a:rPr>
              <a:t>H. Zhang et al. </a:t>
            </a:r>
            <a:r>
              <a:rPr lang="en-US" sz="1238" b="1" dirty="0">
                <a:solidFill>
                  <a:schemeClr val="tx1"/>
                </a:solidFill>
              </a:rPr>
              <a:t>R-Tuning: Instructing Large Language Models to Say 'I Don't Know'.</a:t>
            </a:r>
            <a:r>
              <a:rPr lang="en-US" sz="1238" dirty="0">
                <a:solidFill>
                  <a:schemeClr val="tx1"/>
                </a:solidFill>
              </a:rPr>
              <a:t> NAACL 2024.</a:t>
            </a:r>
            <a:endParaRPr lang="en-US" sz="1238" dirty="0"/>
          </a:p>
          <a:p>
            <a:pPr indent="0" marL="0">
              <a:lnSpc>
                <a:spcPct val="100000"/>
              </a:lnSpc>
              <a:spcAft>
                <a:spcPts val="900"/>
              </a:spcAft>
              <a:buNone/>
            </a:pPr>
            <a:r>
              <a:rPr lang="en-US" sz="1238" dirty="0">
                <a:solidFill>
                  <a:schemeClr val="tx2"/>
                </a:solidFill>
              </a:rPr>
              <a:t>20  </a:t>
            </a:r>
            <a:r>
              <a:rPr lang="en-US" sz="1238" dirty="0">
                <a:solidFill>
                  <a:schemeClr val="tx1"/>
                </a:solidFill>
              </a:rPr>
              <a:t>A. Asai, Z. Wu, Y. Wang, A. Sil, H. Hajishirzi. </a:t>
            </a:r>
            <a:r>
              <a:rPr lang="en-US" sz="1238" b="1" dirty="0">
                <a:solidFill>
                  <a:schemeClr val="tx1"/>
                </a:solidFill>
              </a:rPr>
              <a:t>Self-RAG: Learning to Retrieve, Generate, and Critique through Self-Reflection.</a:t>
            </a:r>
            <a:r>
              <a:rPr lang="en-US" sz="1238" dirty="0">
                <a:solidFill>
                  <a:schemeClr val="tx1"/>
                </a:solidFill>
              </a:rPr>
              <a:t> arXiv:2310.11511, 2023.</a:t>
            </a:r>
            <a:endParaRPr lang="en-US" sz="1238" dirty="0"/>
          </a:p>
          <a:p>
            <a:pPr indent="0" marL="0">
              <a:lnSpc>
                <a:spcPct val="100000"/>
              </a:lnSpc>
              <a:spcAft>
                <a:spcPts val="900"/>
              </a:spcAft>
              <a:buNone/>
            </a:pPr>
            <a:r>
              <a:rPr lang="en-US" sz="1238" dirty="0">
                <a:solidFill>
                  <a:schemeClr val="tx2"/>
                </a:solidFill>
              </a:rPr>
              <a:t>21  </a:t>
            </a:r>
            <a:r>
              <a:rPr lang="en-US" sz="1238" dirty="0">
                <a:solidFill>
                  <a:schemeClr val="tx1"/>
                </a:solidFill>
              </a:rPr>
              <a:t>J. Xie et al. </a:t>
            </a:r>
            <a:r>
              <a:rPr lang="en-US" sz="1238" b="1" dirty="0">
                <a:solidFill>
                  <a:schemeClr val="tx1"/>
                </a:solidFill>
              </a:rPr>
              <a:t>HopRefusalBench: Diagnosing Refusal Failures in Search-Augmented Agents for Multi-Hop Reasoning.</a:t>
            </a:r>
            <a:r>
              <a:rPr lang="en-US" sz="1238" dirty="0">
                <a:solidFill>
                  <a:schemeClr val="tx1"/>
                </a:solidFill>
              </a:rPr>
              <a:t> arXiv:2608.01358, 2026.</a:t>
            </a:r>
            <a:endParaRPr lang="en-US" sz="1238" dirty="0"/>
          </a:p>
        </p:txBody>
      </p:sp>
      <p:sp>
        <p:nvSpPr>
          <p:cNvPr id="6" name="Text 4"/>
          <p:cNvSpPr txBox="1"/>
          <p:nvPr/>
        </p:nvSpPr>
        <p:spPr>
          <a:xfrm>
            <a:off x="685800" y="6143625"/>
            <a:ext cx="10820400" cy="342900"/>
          </a:xfrm>
          <a:prstGeom prst="rect">
            <a:avLst/>
          </a:prstGeom>
          <a:noFill/>
          <a:ln/>
        </p:spPr>
        <p:txBody>
          <a:bodyPr wrap="square" lIns="0" tIns="0" rIns="0" bIns="0" rtlCol="0" anchor="t"/>
          <a:lstStyle/>
          <a:p>
            <a:pPr indent="0" marL="0">
              <a:buNone/>
            </a:pPr>
            <a:r>
              <a:rPr lang="en-US" sz="1125" b="1" dirty="0">
                <a:solidFill>
                  <a:schemeClr val="tx2"/>
                </a:solidFill>
              </a:rPr>
              <a:t>Code, data, report and every number on these slides: </a:t>
            </a:r>
            <a:r>
              <a:rPr lang="en-US" sz="1125" dirty="0">
                <a:solidFill>
                  <a:schemeClr val="tx2"/>
                </a:solidFill>
              </a:rPr>
              <a:t>github.com/MohamadJomaa/refusalbench (report/REPORT.md; each number is recomputed by the tests).</a:t>
            </a:r>
            <a:endParaRPr lang="en-US" sz="1125" dirty="0"/>
          </a:p>
        </p:txBody>
      </p:sp>
      <p:sp>
        <p:nvSpPr>
          <p:cNvPr id="8" name="Text 1"/>
          <p:cNvSpPr/>
          <p:nvPr>
            <p:ph idx="102" type="title" hasCustomPrompt="1"/>
          </p:nvPr>
        </p:nvSpPr>
        <p:spPr>
          <a:xfrm>
            <a:off x="685800" y="647700"/>
            <a:ext cx="10820400" cy="838200"/>
          </a:xfrm>
          <a:prstGeom prst="rect">
            <a:avLst/>
          </a:prstGeom>
          <a:noFill/>
          <a:ln/>
        </p:spPr>
        <p:txBody>
          <a:bodyPr wrap="square" lIns="0" tIns="0" rIns="0" bIns="0" rtlCol="0" anchor="t"/>
          <a:lstStyle/>
          <a:p>
            <a:pPr algn="l" indent="0" marL="0">
              <a:buNone/>
            </a:pPr>
            <a:endParaRPr lang="en-US" sz="2700" dirty="0"/>
          </a:p>
        </p:txBody>
      </p:sp>
    </p:spTree>
  </p:cSld>
  <p:clrMapOvr>
    <a:masterClrMapping/>
  </p:clrMapOvr>
</p:sld>
</file>

<file path=ppt/theme/theme1.xml><?xml version="1.0" encoding="utf-8"?>
<a:theme xmlns:a="http://schemas.openxmlformats.org/drawingml/2006/main" name="Reading Not Asking">
  <a:themeElements>
    <a:clrScheme name="Reading Not Asking">
      <a:dk1>
        <a:srgbClr val="14213D"/>
      </a:dk1>
      <a:lt1>
        <a:srgbClr val="FFFFFF"/>
      </a:lt1>
      <a:dk2>
        <a:srgbClr val="5B6577"/>
      </a:dk2>
      <a:lt2>
        <a:srgbClr val="F2F4F7"/>
      </a:lt2>
      <a:accent1>
        <a:srgbClr val="B5541A"/>
      </a:accent1>
      <a:accent2>
        <a:srgbClr val="0F9D8A"/>
      </a:accent2>
      <a:accent3>
        <a:srgbClr val="2F6FDE"/>
      </a:accent3>
      <a:accent4>
        <a:srgbClr val="D6336C"/>
      </a:accent4>
      <a:accent5>
        <a:srgbClr val="9AA3B2"/>
      </a:accent5>
      <a:accent6>
        <a:srgbClr val="E0A100"/>
      </a:accent6>
      <a:hlink>
        <a:srgbClr val="2F6FDE"/>
      </a:hlink>
      <a:folHlink>
        <a:srgbClr val="6D2E46"/>
      </a:folHlink>
    </a:clrScheme>
    <a:fontScheme name="Reading Not Asking">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Reading, Not Asking: MSc defense</dc:title>
  <dc:subject>PptxGenJS Presentation</dc:subject>
  <dc:creator>Mohammad Jomaa, Abbass Zahreddine, Ahmad Assaf</dc:creator>
  <cp:lastModifiedBy>Mohammad Jomaa, Abbass Zahreddine, Ahmad Assaf</cp:lastModifiedBy>
  <cp:revision>1</cp:revision>
  <dcterms:created xsi:type="dcterms:W3CDTF">2026-10-20T16:20:07Z</dcterms:created>
  <dcterms:modified xsi:type="dcterms:W3CDTF">2026-10-20T16:20:07Z</dcterms:modified>
</cp:coreProperties>
</file>